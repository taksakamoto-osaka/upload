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23" r:id="rId3"/>
    <p:sldId id="326" r:id="rId4"/>
    <p:sldId id="327" r:id="rId5"/>
    <p:sldId id="328" r:id="rId6"/>
    <p:sldId id="325" r:id="rId7"/>
    <p:sldId id="329" r:id="rId8"/>
    <p:sldId id="331" r:id="rId9"/>
    <p:sldId id="33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98"/>
    <p:restoredTop sz="94677"/>
  </p:normalViewPr>
  <p:slideViewPr>
    <p:cSldViewPr snapToGrid="0">
      <p:cViewPr varScale="1">
        <p:scale>
          <a:sx n="124" d="100"/>
          <a:sy n="124" d="100"/>
        </p:scale>
        <p:origin x="2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D93D3-8031-EC47-A989-ABEE3F7FC93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B56E6-2C23-844C-BFCA-760EF45D2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1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D3DAD-8B9C-E64B-AE2A-86404BBFDE1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078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E57E-F6E1-C9D9-F0A2-E2367419B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69D967-6B8E-EE68-CB94-34E445F05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82835-CF29-89FC-3A72-CC214125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88C3EF-4575-ED00-63B8-3C37512A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261EE-99F5-EB9F-1B5E-2CB07525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12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E2C7A-9242-47F2-49CF-FB563AC0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4093B-6777-E8A1-FEBA-C56E538F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985117-B6CA-C1CB-6462-3E6024E7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4EAC4-FBAC-DB3D-CB10-2B303E40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F5980-DE54-1BE8-2F1E-23F65FAE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74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7294C-E976-205E-BC19-6C2DBF14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9D647F-ECBB-EF88-863E-C9A35575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170643-48E6-E3F0-08DE-90AC6FF9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A3A187-295E-04EA-1D74-0256B128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2A53C-D5FE-D61F-C514-EAC562F7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68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98EFA-28FA-1401-A63F-80E276D2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7EA1A-0094-8348-E01B-B05738CF1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DDAAC0-A8DC-E1F2-9126-252C53AF4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47EFF-95F2-0061-1F82-2CE87B24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80311F-7352-FB8C-6F6B-9034912E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4588F8-AB52-FEB4-7832-1A91A769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3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4394E-0E38-D2B4-92AF-EC369E37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B0EAE9-A136-FC24-97EC-510DE8CE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B41394-CEA5-BD28-F89A-A584C230C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246974-70B6-B00E-2684-312813752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8A5726-E928-076A-D14A-721ECB991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18DDBA-5C56-5B9E-CFB4-B59B2ACA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CF0DA-055F-9189-6316-0EA6D083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D4E083-1C4D-C15E-9572-5D63298B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48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8BFB6-EB36-30B8-566B-3C183B5E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30CE1F-561E-538C-D1E1-848E996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A321F5-35BA-0328-C78E-DA52C8E5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CA0E60-3F08-C460-2CFD-3C2D3097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C40B3A-414C-2DE8-5960-F85450B8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0E5DDA-CA82-6D49-99A8-FEBAFD58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D75B0D-5E90-C728-FD9D-F6D8AC55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24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5135B-A59D-70E4-B458-2208B7B7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CBEB34-99B1-4594-868D-C06D9E7F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3ACDE6-6E42-7F08-9A70-E61D474F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5D351C-86BB-7D67-6C95-CF98388E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27DF4A-CB6C-0B84-ED22-252C2A79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127CCF-A761-8781-6F1D-D3FEE584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66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D51F1-0BF5-B54F-230F-38F73C30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A4F03C-9F15-6184-1A28-DD13E6836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18760E-D4B4-E0C8-58D2-A6C182A5C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3ED77F-E745-FC8B-5C57-398883FF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D99E1C-ECFF-84BE-58EB-132B98D7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4D044-6E6D-DC31-902D-847B647F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2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A87A0-FE8B-2A5F-CFD0-5B87CD0B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1D74F5-6551-66E2-2F02-E748FECAE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D94A01-B0FC-1B5C-580A-3A0B96AB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A21572-6181-CC4A-3704-5C884AC9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EBCB8-32E7-8AAF-8C40-74F1EAAF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54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80B6BA-CD2A-0778-9BB7-28CFBF352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EA17F8-EC45-BDBC-E593-B16922121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21DE28-83E7-90F9-DBBB-DA197F40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7A7BCA-6D89-461A-3295-CB7EE449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869D-2AEB-9CB6-2777-D8E81388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67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0C2280-2145-B362-8AFF-AD578CC2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C33AE6-4189-375D-BE26-E2F96D766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C8F86-7301-FA51-F214-A07E34196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4835-5721-2044-847C-113CE0FA57E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3D4381-EEE7-14BD-89F7-5926D342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D886DF-0690-78A8-96C7-1FD8BB723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01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iaSy5H3IsJVBia_yJSOIUqdkrAr5Uc39UNpQVC69soY/edit?slide=id.g21116e9a57a_1_105#slide=id.g21116e9a57a_1_10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5672C274-ECC6-23A1-38C5-BAB27F07E4D3}"/>
              </a:ext>
            </a:extLst>
          </p:cNvPr>
          <p:cNvSpPr/>
          <p:nvPr/>
        </p:nvSpPr>
        <p:spPr>
          <a:xfrm>
            <a:off x="4227189" y="80005"/>
            <a:ext cx="3737621" cy="425322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Agenda</a:t>
            </a:r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40B808-520F-CA2D-0409-A116B2F2F830}"/>
              </a:ext>
            </a:extLst>
          </p:cNvPr>
          <p:cNvSpPr txBox="1"/>
          <p:nvPr/>
        </p:nvSpPr>
        <p:spPr>
          <a:xfrm>
            <a:off x="136071" y="648751"/>
            <a:ext cx="11919858" cy="5890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【</a:t>
            </a: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三谷様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初回レッスンの実施内容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】(2/10[</a:t>
            </a: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火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] – 3/9[</a:t>
            </a: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月</a:t>
            </a:r>
            <a:r>
              <a:rPr lang="en-US" altLang="ja-JP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])</a:t>
            </a:r>
            <a:b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</a:br>
            <a:r>
              <a:rPr lang="ja-JP" altLang="en-US" sz="2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・内容：レッスン概要説明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、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C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言語概要</a:t>
            </a:r>
            <a:endParaRPr lang="en-US" altLang="ja-JP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   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文字列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+ 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アナログ回路</a:t>
            </a:r>
            <a:endParaRPr lang="en-US" altLang="ja-JP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・次回までの宿題：独習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C 4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章まで</a:t>
            </a:r>
            <a:endParaRPr lang="en-US" altLang="ja-JP" sz="2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・以降レッスン：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2: 2/15(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19:00- , 3: 2/20(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金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  4:2/22(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</a:t>
            </a:r>
          </a:p>
          <a:p>
            <a:pPr fontAlgn="base">
              <a:lnSpc>
                <a:spcPct val="150000"/>
              </a:lnSpc>
            </a:pP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                            5:2/23(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月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19:00-    6: 2/27(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金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     </a:t>
            </a:r>
          </a:p>
          <a:p>
            <a:pPr fontAlgn="base">
              <a:lnSpc>
                <a:spcPct val="150000"/>
              </a:lnSpc>
            </a:pP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                            7:3/4(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水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        8:3/8(</a:t>
            </a:r>
            <a:r>
              <a:rPr lang="ja-JP" altLang="en-US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) 9:00-</a:t>
            </a:r>
          </a:p>
          <a:p>
            <a:pPr fontAlgn="base">
              <a:lnSpc>
                <a:spcPct val="150000"/>
              </a:lnSpc>
            </a:pPr>
            <a:r>
              <a:rPr lang="en-US" altLang="ja-JP" sz="2400" dirty="0">
                <a:solidFill>
                  <a:srgbClr val="333333"/>
                </a:solidFill>
                <a:latin typeface="Helvetica Neue" panose="02000503000000020004" pitchFamily="2" charset="0"/>
              </a:rPr>
              <a:t>    </a:t>
            </a:r>
          </a:p>
          <a:p>
            <a:pPr fontAlgn="base">
              <a:lnSpc>
                <a:spcPct val="150000"/>
              </a:lnSpc>
            </a:pPr>
            <a:r>
              <a:rPr lang="ja-JP" altLang="en-US" sz="1400" dirty="0">
                <a:solidFill>
                  <a:srgbClr val="333333"/>
                </a:solidFill>
                <a:latin typeface="Helvetica Neue" panose="02000503000000020004" pitchFamily="2" charset="0"/>
              </a:rPr>
              <a:t>初回レッスン説明資料</a:t>
            </a:r>
            <a:endParaRPr lang="en-US" altLang="ja-JP" sz="14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ja-JP" sz="1100" dirty="0">
                <a:solidFill>
                  <a:srgbClr val="333333"/>
                </a:solidFill>
                <a:latin typeface="Helvetica Neue" panose="02000503000000020004" pitchFamily="2" charset="0"/>
                <a:hlinkClick r:id="rId3"/>
              </a:rPr>
              <a:t>https://docs.google.com/presentation/d/1iaSy5H3IsJVBia_yJSOIUqdkrAr5Uc39UNpQVC69soY/edit?slide=id.g21116e9a57a_1_105#slide=id.g21116e9a57a_1_105</a:t>
            </a:r>
            <a:endParaRPr lang="en-US" altLang="ja-JP" sz="1100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endParaRPr lang="en-US" altLang="ja-JP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-US" altLang="ja-JP" dirty="0">
                <a:solidFill>
                  <a:srgbClr val="333333"/>
                </a:solidFill>
                <a:latin typeface="Helvetica Neue" panose="02000503000000020004" pitchFamily="2" charset="0"/>
              </a:rPr>
              <a:t>(</a:t>
            </a:r>
            <a:r>
              <a:rPr lang="ja-JP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基本：</a:t>
            </a:r>
            <a:r>
              <a:rPr lang="en-US" altLang="ja-JP" dirty="0">
                <a:solidFill>
                  <a:srgbClr val="333333"/>
                </a:solidFill>
                <a:latin typeface="Helvetica Neue" panose="02000503000000020004" pitchFamily="2" charset="0"/>
              </a:rPr>
              <a:t>[</a:t>
            </a:r>
            <a:r>
              <a:rPr lang="ja-JP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日</a:t>
            </a:r>
            <a:r>
              <a:rPr lang="en-US" altLang="ja-JP" dirty="0">
                <a:solidFill>
                  <a:srgbClr val="333333"/>
                </a:solidFill>
                <a:latin typeface="Helvetica Neue" panose="02000503000000020004" pitchFamily="2" charset="0"/>
              </a:rPr>
              <a:t>] 9:00-)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5AD7BC-91BC-5A67-F328-6EE791D1A758}"/>
              </a:ext>
            </a:extLst>
          </p:cNvPr>
          <p:cNvSpPr txBox="1"/>
          <p:nvPr/>
        </p:nvSpPr>
        <p:spPr>
          <a:xfrm>
            <a:off x="8957638" y="733176"/>
            <a:ext cx="3031198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600" dirty="0"/>
              <a:t>▼三谷様 レッスン可能曜日▼</a:t>
            </a:r>
            <a:endParaRPr lang="en-US" altLang="ja-JP" sz="1600" dirty="0"/>
          </a:p>
          <a:p>
            <a:r>
              <a:rPr lang="ja-JP" altLang="en-US" sz="1600" dirty="0"/>
              <a:t>平日：</a:t>
            </a:r>
            <a:r>
              <a:rPr lang="en-US" altLang="ja-JP" sz="1600" dirty="0"/>
              <a:t>9:00-24:00</a:t>
            </a:r>
          </a:p>
          <a:p>
            <a:r>
              <a:rPr lang="ja-JP" altLang="en-US" sz="1600" dirty="0"/>
              <a:t>土日：</a:t>
            </a:r>
            <a:r>
              <a:rPr lang="en-US" altLang="ja-JP" sz="1600" dirty="0"/>
              <a:t>9:00-24:00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FFF5A5-ED5B-CB18-9235-A7EC147A6A4C}"/>
              </a:ext>
            </a:extLst>
          </p:cNvPr>
          <p:cNvSpPr txBox="1"/>
          <p:nvPr/>
        </p:nvSpPr>
        <p:spPr>
          <a:xfrm>
            <a:off x="5451205" y="5801658"/>
            <a:ext cx="653763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333333"/>
                </a:solidFill>
                <a:latin typeface="Helvetica Neue" panose="02000503000000020004" pitchFamily="2" charset="0"/>
              </a:rPr>
              <a:t>【</a:t>
            </a:r>
            <a:r>
              <a:rPr lang="ja-JP" altLang="en-US">
                <a:solidFill>
                  <a:srgbClr val="333333"/>
                </a:solidFill>
                <a:latin typeface="Helvetica Neue" panose="02000503000000020004" pitchFamily="2" charset="0"/>
              </a:rPr>
              <a:t>前回の宿題</a:t>
            </a:r>
            <a:r>
              <a:rPr lang="en-US" altLang="ja-JP" dirty="0">
                <a:solidFill>
                  <a:srgbClr val="333333"/>
                </a:solidFill>
                <a:latin typeface="Helvetica Neue" panose="02000503000000020004" pitchFamily="2" charset="0"/>
              </a:rPr>
              <a:t>】</a:t>
            </a:r>
          </a:p>
          <a:p>
            <a:endParaRPr lang="en-US" altLang="ja-JP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52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6B959675-A683-7F64-4A12-628CE098CBC7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コンピュータ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>
                <a:solidFill>
                  <a:schemeClr val="tx1"/>
                </a:solidFill>
              </a:rPr>
              <a:t>プログラム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2" name="Picture 2" descr="CPUのイラスト | エコのモト">
            <a:extLst>
              <a:ext uri="{FF2B5EF4-FFF2-40B4-BE49-F238E27FC236}">
                <a16:creationId xmlns:a16="http://schemas.microsoft.com/office/drawing/2014/main" id="{340E1AB5-689A-FFF4-3717-A02845B6D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726805" y="1581271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17A374-CFB1-365D-B20A-62C8828376E2}"/>
              </a:ext>
            </a:extLst>
          </p:cNvPr>
          <p:cNvSpPr txBox="1"/>
          <p:nvPr/>
        </p:nvSpPr>
        <p:spPr>
          <a:xfrm>
            <a:off x="2229955" y="2198831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・コンピュータで計算処理を</a:t>
            </a:r>
            <a:endParaRPr kumimoji="1" lang="en-US" altLang="ja-JP" dirty="0"/>
          </a:p>
          <a:p>
            <a:r>
              <a:rPr lang="ja-JP" altLang="en-US"/>
              <a:t>　しているのは</a:t>
            </a:r>
            <a:r>
              <a:rPr lang="en-US" altLang="ja-JP" dirty="0"/>
              <a:t>CPU</a:t>
            </a:r>
            <a:endParaRPr kumimoji="1" lang="ja-JP" altLang="en-US"/>
          </a:p>
        </p:txBody>
      </p:sp>
      <p:pic>
        <p:nvPicPr>
          <p:cNvPr id="1028" name="Picture 4" descr="ソースコードイラスト｜無料イラスト・フリー素材なら「イラストAC」">
            <a:extLst>
              <a:ext uri="{FF2B5EF4-FFF2-40B4-BE49-F238E27FC236}">
                <a16:creationId xmlns:a16="http://schemas.microsoft.com/office/drawing/2014/main" id="{A2EE3FF3-7685-4A84-D92E-90C0B256B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78" y="4180113"/>
            <a:ext cx="954259" cy="95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5E8587B-248E-D165-8323-E7FDCCEEC44C}"/>
              </a:ext>
            </a:extLst>
          </p:cNvPr>
          <p:cNvCxnSpPr>
            <a:cxnSpLocks/>
            <a:stCxn id="1028" idx="0"/>
          </p:cNvCxnSpPr>
          <p:nvPr/>
        </p:nvCxnSpPr>
        <p:spPr>
          <a:xfrm flipV="1">
            <a:off x="795708" y="2840120"/>
            <a:ext cx="446444" cy="1339993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F5BACE3-909F-CAA9-C97A-3ECD41CC7051}"/>
              </a:ext>
            </a:extLst>
          </p:cNvPr>
          <p:cNvCxnSpPr/>
          <p:nvPr/>
        </p:nvCxnSpPr>
        <p:spPr>
          <a:xfrm>
            <a:off x="542925" y="2870244"/>
            <a:ext cx="1228725" cy="122872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33CB81E-3B02-E0CD-BB58-2C5261E6802B}"/>
              </a:ext>
            </a:extLst>
          </p:cNvPr>
          <p:cNvCxnSpPr>
            <a:cxnSpLocks/>
          </p:cNvCxnSpPr>
          <p:nvPr/>
        </p:nvCxnSpPr>
        <p:spPr>
          <a:xfrm flipH="1">
            <a:off x="542633" y="2870243"/>
            <a:ext cx="1228725" cy="122872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1DDEE1D-C7E7-7EEE-BA90-4E77C36BB94D}"/>
              </a:ext>
            </a:extLst>
          </p:cNvPr>
          <p:cNvSpPr txBox="1"/>
          <p:nvPr/>
        </p:nvSpPr>
        <p:spPr>
          <a:xfrm>
            <a:off x="2199870" y="3256783"/>
            <a:ext cx="3712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CPU</a:t>
            </a:r>
            <a:r>
              <a:rPr kumimoji="1" lang="ja-JP" altLang="en-US"/>
              <a:t>が直接プログラム</a:t>
            </a:r>
            <a:endParaRPr kumimoji="1" lang="en-US" altLang="ja-JP" dirty="0"/>
          </a:p>
          <a:p>
            <a:r>
              <a:rPr lang="en-US" altLang="ja-JP" dirty="0"/>
              <a:t> </a:t>
            </a:r>
            <a:r>
              <a:rPr kumimoji="1" lang="ja-JP" altLang="en-US"/>
              <a:t>（ソースコード）を</a:t>
            </a:r>
            <a:r>
              <a:rPr lang="ja-JP" altLang="en-US"/>
              <a:t>解釈している</a:t>
            </a:r>
            <a:endParaRPr lang="en-US" altLang="ja-JP" dirty="0"/>
          </a:p>
          <a:p>
            <a:r>
              <a:rPr lang="en-US" altLang="ja-JP" dirty="0"/>
              <a:t>  </a:t>
            </a:r>
            <a:r>
              <a:rPr lang="ja-JP" altLang="en-US"/>
              <a:t>のではない（できない）</a:t>
            </a:r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D23AE3C-B15A-E85B-374C-39437AC6783A}"/>
              </a:ext>
            </a:extLst>
          </p:cNvPr>
          <p:cNvCxnSpPr/>
          <p:nvPr/>
        </p:nvCxnSpPr>
        <p:spPr>
          <a:xfrm>
            <a:off x="6232634" y="798786"/>
            <a:ext cx="0" cy="585426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FFCC9416-BF55-2C7B-FF49-DCA05D4FFA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8260927" y="1084536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86F659E0-3D63-28F4-3D6E-8FC39372F7AB}"/>
              </a:ext>
            </a:extLst>
          </p:cNvPr>
          <p:cNvSpPr/>
          <p:nvPr/>
        </p:nvSpPr>
        <p:spPr>
          <a:xfrm>
            <a:off x="229336" y="798786"/>
            <a:ext cx="259006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CPU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30" name="Picture 6" descr="Hex Editor Neo v7.50.03.8800 日本語言語ファイル - 内気なもんた君">
            <a:extLst>
              <a:ext uri="{FF2B5EF4-FFF2-40B4-BE49-F238E27FC236}">
                <a16:creationId xmlns:a16="http://schemas.microsoft.com/office/drawing/2014/main" id="{39CBDC89-70F6-B0D4-F8C8-FF067360C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24528" b="44861"/>
          <a:stretch>
            <a:fillRect/>
          </a:stretch>
        </p:blipFill>
        <p:spPr bwMode="auto">
          <a:xfrm>
            <a:off x="6552523" y="3355905"/>
            <a:ext cx="5302722" cy="221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8873DFD-E17C-CDBD-0313-F88F7E7A054F}"/>
              </a:ext>
            </a:extLst>
          </p:cNvPr>
          <p:cNvCxnSpPr>
            <a:cxnSpLocks/>
          </p:cNvCxnSpPr>
          <p:nvPr/>
        </p:nvCxnSpPr>
        <p:spPr>
          <a:xfrm flipV="1">
            <a:off x="7814483" y="2276475"/>
            <a:ext cx="905363" cy="1133333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EA6C04A-B257-48F0-E9B9-C7622143EA44}"/>
              </a:ext>
            </a:extLst>
          </p:cNvPr>
          <p:cNvSpPr txBox="1"/>
          <p:nvPr/>
        </p:nvSpPr>
        <p:spPr>
          <a:xfrm>
            <a:off x="6383343" y="5690788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CPU</a:t>
            </a:r>
            <a:r>
              <a:rPr kumimoji="1" lang="ja-JP" altLang="en-US"/>
              <a:t>は</a:t>
            </a:r>
            <a:r>
              <a:rPr kumimoji="1" lang="en-US" altLang="ja-JP" dirty="0"/>
              <a:t>(</a:t>
            </a:r>
            <a:r>
              <a:rPr lang="ja-JP" altLang="en-US"/>
              <a:t>各</a:t>
            </a:r>
            <a:r>
              <a:rPr lang="en-US" altLang="ja-JP" dirty="0"/>
              <a:t>CPU</a:t>
            </a:r>
            <a:r>
              <a:rPr lang="ja-JP" altLang="en-US"/>
              <a:t>に応じた</a:t>
            </a:r>
            <a:r>
              <a:rPr kumimoji="1" lang="en-US" altLang="ja-JP" dirty="0"/>
              <a:t>)</a:t>
            </a:r>
            <a:r>
              <a:rPr kumimoji="1" lang="ja-JP" altLang="en-US" b="1">
                <a:solidFill>
                  <a:srgbClr val="FF0000"/>
                </a:solidFill>
              </a:rPr>
              <a:t>機械語</a:t>
            </a:r>
            <a:r>
              <a:rPr kumimoji="1" lang="en-US" altLang="ja-JP" dirty="0"/>
              <a:t>[</a:t>
            </a:r>
            <a:r>
              <a:rPr kumimoji="1" lang="ja-JP" altLang="en-US"/>
              <a:t>呼ばれる数値列</a:t>
            </a:r>
            <a:r>
              <a:rPr kumimoji="1" lang="en-US" altLang="ja-JP" dirty="0"/>
              <a:t>]</a:t>
            </a:r>
            <a:r>
              <a:rPr kumimoji="1" lang="ja-JP" altLang="en-US"/>
              <a:t>を</a:t>
            </a:r>
            <a:endParaRPr kumimoji="1" lang="en-US" altLang="ja-JP" dirty="0"/>
          </a:p>
          <a:p>
            <a:r>
              <a:rPr lang="ja-JP" altLang="en-US"/>
              <a:t>　逐次実行している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67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FF44-D303-683D-C769-0C1D003A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BF34F58B-1463-24C7-CFCC-5324533C58E6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コンピュータ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>
                <a:solidFill>
                  <a:schemeClr val="tx1"/>
                </a:solidFill>
              </a:rPr>
              <a:t>プログラム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4FB7EF9F-5E1B-753B-F0F9-303A47F76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1279102" y="1240525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E59DEFD5-89D5-1F48-E059-C874EBC9D475}"/>
              </a:ext>
            </a:extLst>
          </p:cNvPr>
          <p:cNvSpPr/>
          <p:nvPr/>
        </p:nvSpPr>
        <p:spPr>
          <a:xfrm>
            <a:off x="162105" y="725613"/>
            <a:ext cx="259006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原始のプログラミング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30" name="Picture 6" descr="Hex Editor Neo v7.50.03.8800 日本語言語ファイル - 内気なもんた君">
            <a:extLst>
              <a:ext uri="{FF2B5EF4-FFF2-40B4-BE49-F238E27FC236}">
                <a16:creationId xmlns:a16="http://schemas.microsoft.com/office/drawing/2014/main" id="{FC28A331-61BD-8147-2CD0-A3E4024557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24528" b="44861"/>
          <a:stretch>
            <a:fillRect/>
          </a:stretch>
        </p:blipFill>
        <p:spPr bwMode="auto">
          <a:xfrm>
            <a:off x="446998" y="2843141"/>
            <a:ext cx="3972601" cy="16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C22C1A48-3F7A-48DD-0979-09D858F932D1}"/>
              </a:ext>
            </a:extLst>
          </p:cNvPr>
          <p:cNvCxnSpPr>
            <a:cxnSpLocks/>
          </p:cNvCxnSpPr>
          <p:nvPr/>
        </p:nvCxnSpPr>
        <p:spPr>
          <a:xfrm flipV="1">
            <a:off x="1034438" y="2197553"/>
            <a:ext cx="489929" cy="645588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6FC16B8-314C-629F-268E-A9FB2158654B}"/>
              </a:ext>
            </a:extLst>
          </p:cNvPr>
          <p:cNvSpPr txBox="1"/>
          <p:nvPr/>
        </p:nvSpPr>
        <p:spPr>
          <a:xfrm>
            <a:off x="229336" y="4652563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CPU</a:t>
            </a:r>
            <a:r>
              <a:rPr kumimoji="1" lang="ja-JP" altLang="en-US"/>
              <a:t>は</a:t>
            </a:r>
            <a:r>
              <a:rPr kumimoji="1" lang="en-US" altLang="ja-JP" dirty="0"/>
              <a:t>(</a:t>
            </a:r>
            <a:r>
              <a:rPr lang="ja-JP" altLang="en-US"/>
              <a:t>各</a:t>
            </a:r>
            <a:r>
              <a:rPr lang="en-US" altLang="ja-JP" dirty="0"/>
              <a:t>CPU</a:t>
            </a:r>
            <a:r>
              <a:rPr lang="ja-JP" altLang="en-US"/>
              <a:t>に応じた</a:t>
            </a:r>
            <a:r>
              <a:rPr kumimoji="1" lang="en-US" altLang="ja-JP" dirty="0"/>
              <a:t>)</a:t>
            </a:r>
            <a:r>
              <a:rPr kumimoji="1" lang="ja-JP" altLang="en-US" b="1">
                <a:solidFill>
                  <a:srgbClr val="FF0000"/>
                </a:solidFill>
              </a:rPr>
              <a:t>機械語</a:t>
            </a:r>
            <a:r>
              <a:rPr kumimoji="1" lang="en-US" altLang="ja-JP" dirty="0"/>
              <a:t>[</a:t>
            </a:r>
            <a:r>
              <a:rPr kumimoji="1" lang="ja-JP" altLang="en-US"/>
              <a:t>呼ばれる数値列</a:t>
            </a:r>
            <a:r>
              <a:rPr kumimoji="1" lang="en-US" altLang="ja-JP" dirty="0"/>
              <a:t>]</a:t>
            </a:r>
            <a:r>
              <a:rPr kumimoji="1" lang="ja-JP" altLang="en-US"/>
              <a:t>を</a:t>
            </a:r>
            <a:endParaRPr kumimoji="1" lang="en-US" altLang="ja-JP" dirty="0"/>
          </a:p>
          <a:p>
            <a:r>
              <a:rPr lang="ja-JP" altLang="en-US"/>
              <a:t>　逐次実行している</a:t>
            </a:r>
            <a:endParaRPr kumimoji="1" lang="ja-JP" altLang="en-US"/>
          </a:p>
        </p:txBody>
      </p:sp>
      <p:sp>
        <p:nvSpPr>
          <p:cNvPr id="5" name="下矢印 4">
            <a:extLst>
              <a:ext uri="{FF2B5EF4-FFF2-40B4-BE49-F238E27FC236}">
                <a16:creationId xmlns:a16="http://schemas.microsoft.com/office/drawing/2014/main" id="{A22E3F7A-D55D-AEFF-E936-2EE0617E4A01}"/>
              </a:ext>
            </a:extLst>
          </p:cNvPr>
          <p:cNvSpPr/>
          <p:nvPr/>
        </p:nvSpPr>
        <p:spPr>
          <a:xfrm>
            <a:off x="2015634" y="5298894"/>
            <a:ext cx="1729787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01EE68-8B67-6AE8-92C8-8106EC5C6062}"/>
              </a:ext>
            </a:extLst>
          </p:cNvPr>
          <p:cNvSpPr txBox="1"/>
          <p:nvPr/>
        </p:nvSpPr>
        <p:spPr>
          <a:xfrm>
            <a:off x="229335" y="5785668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・人が直接</a:t>
            </a:r>
            <a:r>
              <a:rPr kumimoji="1" lang="en-US" altLang="ja-JP" dirty="0"/>
              <a:t> </a:t>
            </a:r>
            <a:r>
              <a:rPr kumimoji="1" lang="ja-JP" altLang="en-US"/>
              <a:t>機械語で書いていたのが最も初期の</a:t>
            </a:r>
            <a:endParaRPr kumimoji="1" lang="en-US" altLang="ja-JP" dirty="0"/>
          </a:p>
          <a:p>
            <a:r>
              <a:rPr lang="ja-JP" altLang="en-US"/>
              <a:t>　プログラム</a:t>
            </a:r>
            <a:endParaRPr kumimoji="1" lang="en-US" altLang="ja-JP" dirty="0"/>
          </a:p>
        </p:txBody>
      </p:sp>
      <p:pic>
        <p:nvPicPr>
          <p:cNvPr id="3074" name="Picture 2" descr="パンチカード - Wikipedia">
            <a:extLst>
              <a:ext uri="{FF2B5EF4-FFF2-40B4-BE49-F238E27FC236}">
                <a16:creationId xmlns:a16="http://schemas.microsoft.com/office/drawing/2014/main" id="{C94984B6-3F6B-3325-BE32-7B2F13B71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452" y="1612900"/>
            <a:ext cx="246380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862732A-0AAF-C763-12AD-626F463A0988}"/>
              </a:ext>
            </a:extLst>
          </p:cNvPr>
          <p:cNvCxnSpPr/>
          <p:nvPr/>
        </p:nvCxnSpPr>
        <p:spPr>
          <a:xfrm flipV="1">
            <a:off x="5410200" y="4762500"/>
            <a:ext cx="2273252" cy="148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6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4DDE-FC08-9190-7EE3-F1031EC0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216420D6-DF00-C67B-2819-A4DFF7EDC39C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コンピュータ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>
                <a:solidFill>
                  <a:schemeClr val="tx1"/>
                </a:solidFill>
              </a:rPr>
              <a:t>プログラム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EE18352D-8F42-AEA0-BD2F-05E1858B2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1279102" y="1240525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DE5D6479-3B52-37C1-B751-49293DED0262}"/>
              </a:ext>
            </a:extLst>
          </p:cNvPr>
          <p:cNvSpPr/>
          <p:nvPr/>
        </p:nvSpPr>
        <p:spPr>
          <a:xfrm>
            <a:off x="162105" y="725613"/>
            <a:ext cx="259006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アセンブラ言語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30" name="Picture 6" descr="Hex Editor Neo v7.50.03.8800 日本語言語ファイル - 内気なもんた君">
            <a:extLst>
              <a:ext uri="{FF2B5EF4-FFF2-40B4-BE49-F238E27FC236}">
                <a16:creationId xmlns:a16="http://schemas.microsoft.com/office/drawing/2014/main" id="{D7779918-85F4-24E9-9C66-9F65FB46CD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24528" b="44861"/>
          <a:stretch>
            <a:fillRect/>
          </a:stretch>
        </p:blipFill>
        <p:spPr bwMode="auto">
          <a:xfrm>
            <a:off x="446998" y="2843141"/>
            <a:ext cx="3972601" cy="16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EA6346C-49C4-83FF-FDEF-0C44AE484338}"/>
              </a:ext>
            </a:extLst>
          </p:cNvPr>
          <p:cNvCxnSpPr>
            <a:cxnSpLocks/>
          </p:cNvCxnSpPr>
          <p:nvPr/>
        </p:nvCxnSpPr>
        <p:spPr>
          <a:xfrm flipV="1">
            <a:off x="1034438" y="2197553"/>
            <a:ext cx="489929" cy="645588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71F3718-8EAB-AF1C-F909-333BA646737C}"/>
              </a:ext>
            </a:extLst>
          </p:cNvPr>
          <p:cNvSpPr txBox="1"/>
          <p:nvPr/>
        </p:nvSpPr>
        <p:spPr>
          <a:xfrm>
            <a:off x="229336" y="4652563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CPU</a:t>
            </a:r>
            <a:r>
              <a:rPr kumimoji="1" lang="ja-JP" altLang="en-US"/>
              <a:t>は</a:t>
            </a:r>
            <a:r>
              <a:rPr kumimoji="1" lang="en-US" altLang="ja-JP" dirty="0"/>
              <a:t>(</a:t>
            </a:r>
            <a:r>
              <a:rPr lang="ja-JP" altLang="en-US"/>
              <a:t>各</a:t>
            </a:r>
            <a:r>
              <a:rPr lang="en-US" altLang="ja-JP" dirty="0"/>
              <a:t>CPU</a:t>
            </a:r>
            <a:r>
              <a:rPr lang="ja-JP" altLang="en-US"/>
              <a:t>に応じた</a:t>
            </a:r>
            <a:r>
              <a:rPr kumimoji="1" lang="en-US" altLang="ja-JP" dirty="0"/>
              <a:t>)</a:t>
            </a:r>
            <a:r>
              <a:rPr kumimoji="1" lang="ja-JP" altLang="en-US" b="1">
                <a:solidFill>
                  <a:srgbClr val="FF0000"/>
                </a:solidFill>
              </a:rPr>
              <a:t>機械語</a:t>
            </a:r>
            <a:r>
              <a:rPr kumimoji="1" lang="en-US" altLang="ja-JP" dirty="0"/>
              <a:t>[</a:t>
            </a:r>
            <a:r>
              <a:rPr kumimoji="1" lang="ja-JP" altLang="en-US"/>
              <a:t>呼ばれる数値列</a:t>
            </a:r>
            <a:r>
              <a:rPr kumimoji="1" lang="en-US" altLang="ja-JP" dirty="0"/>
              <a:t>]</a:t>
            </a:r>
            <a:r>
              <a:rPr kumimoji="1" lang="ja-JP" altLang="en-US"/>
              <a:t>を</a:t>
            </a:r>
            <a:endParaRPr kumimoji="1" lang="en-US" altLang="ja-JP" dirty="0"/>
          </a:p>
          <a:p>
            <a:r>
              <a:rPr lang="ja-JP" altLang="en-US"/>
              <a:t>　逐次実行している</a:t>
            </a:r>
            <a:endParaRPr kumimoji="1" lang="ja-JP" altLang="en-US"/>
          </a:p>
        </p:txBody>
      </p:sp>
      <p:sp>
        <p:nvSpPr>
          <p:cNvPr id="5" name="下矢印 4">
            <a:extLst>
              <a:ext uri="{FF2B5EF4-FFF2-40B4-BE49-F238E27FC236}">
                <a16:creationId xmlns:a16="http://schemas.microsoft.com/office/drawing/2014/main" id="{0EB42486-ED21-EB06-847E-F52596BA4326}"/>
              </a:ext>
            </a:extLst>
          </p:cNvPr>
          <p:cNvSpPr/>
          <p:nvPr/>
        </p:nvSpPr>
        <p:spPr>
          <a:xfrm rot="5400000">
            <a:off x="4710246" y="3323224"/>
            <a:ext cx="1729787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26E00EC-44F5-15FA-50D1-2134526FD68B}"/>
              </a:ext>
            </a:extLst>
          </p:cNvPr>
          <p:cNvSpPr txBox="1"/>
          <p:nvPr/>
        </p:nvSpPr>
        <p:spPr>
          <a:xfrm>
            <a:off x="6449160" y="4727232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・人はアセンブラ言語</a:t>
            </a:r>
            <a:r>
              <a:rPr kumimoji="1" lang="en-US" altLang="ja-JP" dirty="0"/>
              <a:t>(</a:t>
            </a:r>
            <a:r>
              <a:rPr kumimoji="1" lang="ja-JP" altLang="en-US"/>
              <a:t>各</a:t>
            </a:r>
            <a:r>
              <a:rPr kumimoji="1" lang="en-US" altLang="ja-JP" dirty="0"/>
              <a:t>CPU</a:t>
            </a:r>
            <a:r>
              <a:rPr kumimoji="1" lang="ja-JP" altLang="en-US"/>
              <a:t>に応じた</a:t>
            </a:r>
            <a:r>
              <a:rPr kumimoji="1" lang="en-US" altLang="ja-JP" dirty="0"/>
              <a:t>)</a:t>
            </a:r>
            <a:r>
              <a:rPr kumimoji="1" lang="ja-JP" altLang="en-US"/>
              <a:t>を記述し</a:t>
            </a:r>
            <a:endParaRPr kumimoji="1" lang="en-US" altLang="ja-JP" dirty="0"/>
          </a:p>
          <a:p>
            <a:r>
              <a:rPr lang="ja-JP" altLang="en-US"/>
              <a:t>　ツールで機械語に変換する</a:t>
            </a:r>
            <a:endParaRPr kumimoji="1" lang="en-US" altLang="ja-JP" dirty="0"/>
          </a:p>
        </p:txBody>
      </p:sp>
      <p:pic>
        <p:nvPicPr>
          <p:cNvPr id="4098" name="Picture 2" descr="アセンブラ">
            <a:extLst>
              <a:ext uri="{FF2B5EF4-FFF2-40B4-BE49-F238E27FC236}">
                <a16:creationId xmlns:a16="http://schemas.microsoft.com/office/drawing/2014/main" id="{3C04D750-8109-8721-FA89-ADF4172E4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29"/>
          <a:stretch>
            <a:fillRect/>
          </a:stretch>
        </p:blipFill>
        <p:spPr bwMode="auto">
          <a:xfrm>
            <a:off x="6593390" y="2338316"/>
            <a:ext cx="3686175" cy="238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8A00DB-E673-A0A5-CCB8-A6FBB25BC787}"/>
              </a:ext>
            </a:extLst>
          </p:cNvPr>
          <p:cNvSpPr txBox="1"/>
          <p:nvPr/>
        </p:nvSpPr>
        <p:spPr>
          <a:xfrm>
            <a:off x="4416158" y="1986201"/>
            <a:ext cx="2162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/>
              <a:t>ツールで変換</a:t>
            </a:r>
            <a:endParaRPr lang="en-US" altLang="ja-JP" dirty="0"/>
          </a:p>
          <a:p>
            <a:pPr algn="ctr"/>
            <a:r>
              <a:rPr lang="en-US" altLang="ja-JP" dirty="0"/>
              <a:t>(</a:t>
            </a:r>
            <a:r>
              <a:rPr lang="ja-JP" altLang="en-US"/>
              <a:t>アセンブラ</a:t>
            </a:r>
            <a:r>
              <a:rPr lang="en-US" altLang="ja-JP" dirty="0"/>
              <a:t>)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B9F998-C8A1-6E39-607E-327E34048962}"/>
              </a:ext>
            </a:extLst>
          </p:cNvPr>
          <p:cNvSpPr txBox="1"/>
          <p:nvPr/>
        </p:nvSpPr>
        <p:spPr>
          <a:xfrm>
            <a:off x="5784690" y="5766168"/>
            <a:ext cx="61722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アセンブラ言語の問題：</a:t>
            </a:r>
            <a:endParaRPr kumimoji="1" lang="en-US" altLang="ja-JP" dirty="0"/>
          </a:p>
          <a:p>
            <a:r>
              <a:rPr lang="ja-JP" altLang="en-US"/>
              <a:t>・各</a:t>
            </a:r>
            <a:r>
              <a:rPr lang="en-US" altLang="ja-JP" dirty="0"/>
              <a:t>CPU</a:t>
            </a:r>
            <a:r>
              <a:rPr lang="ja-JP" altLang="en-US"/>
              <a:t>毎に記述が異なるので、別の</a:t>
            </a:r>
            <a:r>
              <a:rPr lang="en-US" altLang="ja-JP" dirty="0"/>
              <a:t>CPU</a:t>
            </a:r>
            <a:r>
              <a:rPr lang="ja-JP" altLang="en-US"/>
              <a:t>に移植できない</a:t>
            </a:r>
            <a:endParaRPr lang="en-US" altLang="ja-JP" dirty="0"/>
          </a:p>
          <a:p>
            <a:r>
              <a:rPr kumimoji="1" lang="ja-JP" altLang="en-US"/>
              <a:t>・単純な命令を組み合わせるため、理解が難しい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6474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350D-D2EB-85EA-46B0-47E3498A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48C105E8-2208-B2A3-EE70-9B6D0694F1AF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コンピュータ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>
                <a:solidFill>
                  <a:schemeClr val="tx1"/>
                </a:solidFill>
              </a:rPr>
              <a:t>プログラム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FB483565-4808-A6EE-D98A-5D472181B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1279102" y="1240525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F5457ED1-BE91-D311-63EA-F03AC421B269}"/>
              </a:ext>
            </a:extLst>
          </p:cNvPr>
          <p:cNvSpPr/>
          <p:nvPr/>
        </p:nvSpPr>
        <p:spPr>
          <a:xfrm>
            <a:off x="162105" y="725613"/>
            <a:ext cx="259006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高級言語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30" name="Picture 6" descr="Hex Editor Neo v7.50.03.8800 日本語言語ファイル - 内気なもんた君">
            <a:extLst>
              <a:ext uri="{FF2B5EF4-FFF2-40B4-BE49-F238E27FC236}">
                <a16:creationId xmlns:a16="http://schemas.microsoft.com/office/drawing/2014/main" id="{5C4F4A27-CCAE-9C55-BFFA-BBA6A1BF4B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24528" b="44861"/>
          <a:stretch>
            <a:fillRect/>
          </a:stretch>
        </p:blipFill>
        <p:spPr bwMode="auto">
          <a:xfrm>
            <a:off x="446998" y="2843141"/>
            <a:ext cx="3972601" cy="16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1642F9F-B70D-E8D2-4299-BBDBC217E182}"/>
              </a:ext>
            </a:extLst>
          </p:cNvPr>
          <p:cNvCxnSpPr>
            <a:cxnSpLocks/>
          </p:cNvCxnSpPr>
          <p:nvPr/>
        </p:nvCxnSpPr>
        <p:spPr>
          <a:xfrm flipV="1">
            <a:off x="1034438" y="2197553"/>
            <a:ext cx="489929" cy="645588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1A01E61-91CF-5B7C-4019-7661F596E762}"/>
              </a:ext>
            </a:extLst>
          </p:cNvPr>
          <p:cNvSpPr txBox="1"/>
          <p:nvPr/>
        </p:nvSpPr>
        <p:spPr>
          <a:xfrm>
            <a:off x="229336" y="4652563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CPU</a:t>
            </a:r>
            <a:r>
              <a:rPr kumimoji="1" lang="ja-JP" altLang="en-US"/>
              <a:t>は</a:t>
            </a:r>
            <a:r>
              <a:rPr kumimoji="1" lang="en-US" altLang="ja-JP" dirty="0"/>
              <a:t>(</a:t>
            </a:r>
            <a:r>
              <a:rPr lang="ja-JP" altLang="en-US"/>
              <a:t>各</a:t>
            </a:r>
            <a:r>
              <a:rPr lang="en-US" altLang="ja-JP" dirty="0"/>
              <a:t>CPU</a:t>
            </a:r>
            <a:r>
              <a:rPr lang="ja-JP" altLang="en-US"/>
              <a:t>に応じた</a:t>
            </a:r>
            <a:r>
              <a:rPr kumimoji="1" lang="en-US" altLang="ja-JP" dirty="0"/>
              <a:t>)</a:t>
            </a:r>
            <a:r>
              <a:rPr kumimoji="1" lang="ja-JP" altLang="en-US" b="1">
                <a:solidFill>
                  <a:srgbClr val="FF0000"/>
                </a:solidFill>
              </a:rPr>
              <a:t>機械語</a:t>
            </a:r>
            <a:r>
              <a:rPr kumimoji="1" lang="en-US" altLang="ja-JP" dirty="0"/>
              <a:t>[</a:t>
            </a:r>
            <a:r>
              <a:rPr kumimoji="1" lang="ja-JP" altLang="en-US"/>
              <a:t>呼ばれる数値列</a:t>
            </a:r>
            <a:r>
              <a:rPr kumimoji="1" lang="en-US" altLang="ja-JP" dirty="0"/>
              <a:t>]</a:t>
            </a:r>
            <a:r>
              <a:rPr kumimoji="1" lang="ja-JP" altLang="en-US"/>
              <a:t>を</a:t>
            </a:r>
            <a:endParaRPr kumimoji="1" lang="en-US" altLang="ja-JP" dirty="0"/>
          </a:p>
          <a:p>
            <a:r>
              <a:rPr lang="ja-JP" altLang="en-US"/>
              <a:t>　逐次実行している</a:t>
            </a:r>
            <a:endParaRPr kumimoji="1" lang="ja-JP" altLang="en-US"/>
          </a:p>
        </p:txBody>
      </p:sp>
      <p:sp>
        <p:nvSpPr>
          <p:cNvPr id="5" name="下矢印 4">
            <a:extLst>
              <a:ext uri="{FF2B5EF4-FFF2-40B4-BE49-F238E27FC236}">
                <a16:creationId xmlns:a16="http://schemas.microsoft.com/office/drawing/2014/main" id="{E3148549-C51E-5873-04A0-7737DEBFC64D}"/>
              </a:ext>
            </a:extLst>
          </p:cNvPr>
          <p:cNvSpPr/>
          <p:nvPr/>
        </p:nvSpPr>
        <p:spPr>
          <a:xfrm rot="5400000">
            <a:off x="4710246" y="3323224"/>
            <a:ext cx="1729787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DA46A8-D310-6B38-E3F1-7997A6AB7272}"/>
              </a:ext>
            </a:extLst>
          </p:cNvPr>
          <p:cNvSpPr txBox="1"/>
          <p:nvPr/>
        </p:nvSpPr>
        <p:spPr>
          <a:xfrm>
            <a:off x="6449160" y="4727232"/>
            <a:ext cx="564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・人は</a:t>
            </a:r>
            <a:r>
              <a:rPr kumimoji="1" lang="en-US" altLang="ja-JP" dirty="0"/>
              <a:t>C</a:t>
            </a:r>
            <a:r>
              <a:rPr kumimoji="1" lang="ja-JP" altLang="en-US"/>
              <a:t>言語</a:t>
            </a:r>
            <a:r>
              <a:rPr kumimoji="1" lang="en-US" altLang="ja-JP" dirty="0"/>
              <a:t>(</a:t>
            </a:r>
            <a:r>
              <a:rPr lang="ja-JP" altLang="en-US"/>
              <a:t>原則</a:t>
            </a:r>
            <a:r>
              <a:rPr kumimoji="1" lang="en-US" altLang="ja-JP" dirty="0"/>
              <a:t>CPU</a:t>
            </a:r>
            <a:r>
              <a:rPr lang="ja-JP" altLang="en-US"/>
              <a:t>依存しない</a:t>
            </a:r>
            <a:r>
              <a:rPr kumimoji="1" lang="en-US" altLang="ja-JP" dirty="0"/>
              <a:t>)</a:t>
            </a:r>
            <a:r>
              <a:rPr kumimoji="1" lang="ja-JP" altLang="en-US"/>
              <a:t>を記述し</a:t>
            </a:r>
            <a:endParaRPr kumimoji="1" lang="en-US" altLang="ja-JP" dirty="0"/>
          </a:p>
          <a:p>
            <a:r>
              <a:rPr lang="ja-JP" altLang="en-US"/>
              <a:t>　ツール</a:t>
            </a:r>
            <a:r>
              <a:rPr lang="en-US" altLang="ja-JP" dirty="0"/>
              <a:t>[</a:t>
            </a:r>
            <a:r>
              <a:rPr lang="ja-JP" altLang="en-US"/>
              <a:t>コンパイラ</a:t>
            </a:r>
            <a:r>
              <a:rPr lang="en-US" altLang="ja-JP" dirty="0"/>
              <a:t>]</a:t>
            </a:r>
            <a:r>
              <a:rPr lang="ja-JP" altLang="en-US"/>
              <a:t>で機械語に変換する</a:t>
            </a:r>
            <a:endParaRPr kumimoji="1"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248BFE-5024-0455-23D7-78656E2397BB}"/>
              </a:ext>
            </a:extLst>
          </p:cNvPr>
          <p:cNvSpPr txBox="1"/>
          <p:nvPr/>
        </p:nvSpPr>
        <p:spPr>
          <a:xfrm>
            <a:off x="4419599" y="2078535"/>
            <a:ext cx="2162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/>
              <a:t>ツールで変換</a:t>
            </a:r>
            <a:endParaRPr lang="en-US" altLang="ja-JP" dirty="0"/>
          </a:p>
          <a:p>
            <a:pPr algn="ctr"/>
            <a:r>
              <a:rPr lang="ja-JP" altLang="en-US"/>
              <a:t>（コンパイラ）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C491EA-E368-A5FF-0DB5-48D801AB73F0}"/>
              </a:ext>
            </a:extLst>
          </p:cNvPr>
          <p:cNvSpPr txBox="1"/>
          <p:nvPr/>
        </p:nvSpPr>
        <p:spPr>
          <a:xfrm>
            <a:off x="7588817" y="836768"/>
            <a:ext cx="4273558" cy="14927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dirty="0"/>
              <a:t>【</a:t>
            </a:r>
            <a:r>
              <a:rPr lang="ja-JP" altLang="en-US" sz="1400"/>
              <a:t>初期の高級言語</a:t>
            </a:r>
            <a:r>
              <a:rPr lang="en-US" altLang="ja-JP" sz="1400" dirty="0"/>
              <a:t>】 (</a:t>
            </a:r>
            <a:r>
              <a:rPr lang="ja-JP" altLang="en-US" sz="1400"/>
              <a:t>原則</a:t>
            </a:r>
            <a:r>
              <a:rPr lang="en-US" altLang="ja-JP" sz="1400" dirty="0"/>
              <a:t>CPU</a:t>
            </a:r>
            <a:r>
              <a:rPr lang="ja-JP" altLang="en-US" sz="1400"/>
              <a:t>に依存しない</a:t>
            </a:r>
            <a:r>
              <a:rPr lang="en-US" altLang="ja-JP" sz="1400" dirty="0"/>
              <a:t>)</a:t>
            </a:r>
          </a:p>
          <a:p>
            <a:pPr>
              <a:lnSpc>
                <a:spcPct val="150000"/>
              </a:lnSpc>
            </a:pPr>
            <a:r>
              <a:rPr lang="ja-JP" altLang="en-US" sz="1400"/>
              <a:t>・</a:t>
            </a:r>
            <a:r>
              <a:rPr lang="en-US" altLang="ja-JP" sz="1400" dirty="0"/>
              <a:t>Fortran … </a:t>
            </a:r>
            <a:r>
              <a:rPr lang="ja-JP" altLang="en-US" sz="1400"/>
              <a:t>数値計算が書きやすい</a:t>
            </a:r>
            <a:endParaRPr lang="en-US" altLang="ja-JP" sz="1400" dirty="0"/>
          </a:p>
          <a:p>
            <a:pPr>
              <a:lnSpc>
                <a:spcPct val="150000"/>
              </a:lnSpc>
            </a:pPr>
            <a:r>
              <a:rPr lang="ja-JP" altLang="en-US" sz="1400"/>
              <a:t>・</a:t>
            </a:r>
            <a:r>
              <a:rPr lang="en-US" altLang="ja-JP" sz="1400" dirty="0"/>
              <a:t>COBOL … </a:t>
            </a:r>
            <a:r>
              <a:rPr lang="ja-JP" altLang="en-US" sz="1400"/>
              <a:t>経理計算が書きやすい</a:t>
            </a:r>
            <a:endParaRPr lang="en-US" altLang="ja-JP" sz="1400" dirty="0"/>
          </a:p>
          <a:p>
            <a:r>
              <a:rPr lang="ja-JP" altLang="en-US" sz="1400"/>
              <a:t>・</a:t>
            </a:r>
            <a:r>
              <a:rPr lang="en-US" altLang="ja-JP" sz="1400" dirty="0"/>
              <a:t>C</a:t>
            </a:r>
            <a:r>
              <a:rPr lang="ja-JP" altLang="en-US" sz="1400"/>
              <a:t>言語</a:t>
            </a:r>
            <a:r>
              <a:rPr lang="en-US" altLang="ja-JP" sz="1400" dirty="0"/>
              <a:t>   … </a:t>
            </a:r>
            <a:r>
              <a:rPr lang="ja-JP" altLang="en-US" sz="1400"/>
              <a:t>アセンブラに近い性能で</a:t>
            </a:r>
            <a:endParaRPr lang="en-US" altLang="ja-JP" sz="1400" dirty="0"/>
          </a:p>
          <a:p>
            <a:r>
              <a:rPr lang="ja-JP" altLang="en-US" sz="1400"/>
              <a:t>　　　　　　人が理解しやすい　</a:t>
            </a:r>
            <a:r>
              <a:rPr lang="en-US" altLang="ja-JP" sz="1400" dirty="0"/>
              <a:t>OS, </a:t>
            </a:r>
            <a:r>
              <a:rPr lang="ja-JP" altLang="en-US" sz="1400"/>
              <a:t>制御マイコン</a:t>
            </a:r>
          </a:p>
        </p:txBody>
      </p:sp>
      <p:pic>
        <p:nvPicPr>
          <p:cNvPr id="5122" name="Picture 2" descr="C言語の始め方【第1回 C言語とは？】※現役エンジニアによる解説 | プログラミングの始め方">
            <a:extLst>
              <a:ext uri="{FF2B5EF4-FFF2-40B4-BE49-F238E27FC236}">
                <a16:creationId xmlns:a16="http://schemas.microsoft.com/office/drawing/2014/main" id="{F61376F4-6101-6F4A-4D1A-4392F7C92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680" y="2709023"/>
            <a:ext cx="4107150" cy="16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62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32A1-522B-839A-0BF5-0A6FD0E2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A1389740-8398-B1A0-AC1E-6376CAC722AB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実行環境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32C2EF0-7C15-713E-9D01-D5CA9E7E7DC2}"/>
              </a:ext>
            </a:extLst>
          </p:cNvPr>
          <p:cNvCxnSpPr/>
          <p:nvPr/>
        </p:nvCxnSpPr>
        <p:spPr>
          <a:xfrm>
            <a:off x="6232634" y="798786"/>
            <a:ext cx="0" cy="585426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65BD40A3-1746-E792-6706-0CD4E634F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7899129" y="5599151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14C210E-4467-7AA6-B395-F05152E6B6E8}"/>
              </a:ext>
            </a:extLst>
          </p:cNvPr>
          <p:cNvSpPr/>
          <p:nvPr/>
        </p:nvSpPr>
        <p:spPr>
          <a:xfrm>
            <a:off x="7614267" y="5050352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BIOS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7400A8C-3B0A-2D54-1501-EDFF253E160A}"/>
              </a:ext>
            </a:extLst>
          </p:cNvPr>
          <p:cNvSpPr/>
          <p:nvPr/>
        </p:nvSpPr>
        <p:spPr>
          <a:xfrm>
            <a:off x="7614268" y="396007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182529D9-C0D1-756E-6EFD-F38BCB03582E}"/>
              </a:ext>
            </a:extLst>
          </p:cNvPr>
          <p:cNvSpPr/>
          <p:nvPr/>
        </p:nvSpPr>
        <p:spPr>
          <a:xfrm>
            <a:off x="229335" y="798786"/>
            <a:ext cx="518610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ソースコードから機械語に直接変換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C言語の始め方【第1回 C言語とは？】※現役エンジニアによる解説 | プログラミングの始め方">
            <a:extLst>
              <a:ext uri="{FF2B5EF4-FFF2-40B4-BE49-F238E27FC236}">
                <a16:creationId xmlns:a16="http://schemas.microsoft.com/office/drawing/2014/main" id="{F10E935C-4778-39AB-9333-6EFEEC577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92" y="1501477"/>
            <a:ext cx="3065429" cy="122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Hex Editor Neo v7.50.03.8800 日本語言語ファイル - 内気なもんた君">
            <a:extLst>
              <a:ext uri="{FF2B5EF4-FFF2-40B4-BE49-F238E27FC236}">
                <a16:creationId xmlns:a16="http://schemas.microsoft.com/office/drawing/2014/main" id="{EE806162-5752-FA12-9147-AC0EA79F5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7" r="24528" b="44861"/>
          <a:stretch>
            <a:fillRect/>
          </a:stretch>
        </p:blipFill>
        <p:spPr bwMode="auto">
          <a:xfrm>
            <a:off x="679993" y="3485238"/>
            <a:ext cx="3065428" cy="128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PUのイラスト | エコのモト">
            <a:extLst>
              <a:ext uri="{FF2B5EF4-FFF2-40B4-BE49-F238E27FC236}">
                <a16:creationId xmlns:a16="http://schemas.microsoft.com/office/drawing/2014/main" id="{EF441C59-945D-27C5-D95D-A0FF58FCA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1473672" y="5522665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下矢印 5">
            <a:extLst>
              <a:ext uri="{FF2B5EF4-FFF2-40B4-BE49-F238E27FC236}">
                <a16:creationId xmlns:a16="http://schemas.microsoft.com/office/drawing/2014/main" id="{F3C70F21-CA86-9690-30D2-D178F59DAE35}"/>
              </a:ext>
            </a:extLst>
          </p:cNvPr>
          <p:cNvSpPr/>
          <p:nvPr/>
        </p:nvSpPr>
        <p:spPr>
          <a:xfrm>
            <a:off x="1349322" y="2898625"/>
            <a:ext cx="1729787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5DD1D7CE-0FB1-5E0C-A8BA-CAD4A6668428}"/>
              </a:ext>
            </a:extLst>
          </p:cNvPr>
          <p:cNvSpPr/>
          <p:nvPr/>
        </p:nvSpPr>
        <p:spPr>
          <a:xfrm>
            <a:off x="1347812" y="4936052"/>
            <a:ext cx="1729787" cy="419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35">
            <a:extLst>
              <a:ext uri="{FF2B5EF4-FFF2-40B4-BE49-F238E27FC236}">
                <a16:creationId xmlns:a16="http://schemas.microsoft.com/office/drawing/2014/main" id="{623E4950-727A-45CC-949D-798640BBB78A}"/>
              </a:ext>
            </a:extLst>
          </p:cNvPr>
          <p:cNvSpPr/>
          <p:nvPr/>
        </p:nvSpPr>
        <p:spPr>
          <a:xfrm>
            <a:off x="6525360" y="798785"/>
            <a:ext cx="518610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ソースコードから</a:t>
            </a:r>
            <a:r>
              <a:rPr lang="en-US" altLang="ja-JP" dirty="0">
                <a:solidFill>
                  <a:schemeClr val="tx1"/>
                </a:solidFill>
              </a:rPr>
              <a:t>OS</a:t>
            </a:r>
            <a:r>
              <a:rPr lang="ja-JP" altLang="en-US">
                <a:solidFill>
                  <a:schemeClr val="tx1"/>
                </a:solidFill>
              </a:rPr>
              <a:t>用の実行ファイルに変換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" name="Picture 2" descr="C言語の始め方【第1回 C言語とは？】※現役エンジニアによる解説 | プログラミングの始め方">
            <a:extLst>
              <a:ext uri="{FF2B5EF4-FFF2-40B4-BE49-F238E27FC236}">
                <a16:creationId xmlns:a16="http://schemas.microsoft.com/office/drawing/2014/main" id="{364336EB-C0CA-73A9-1906-D78EEAE4D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845" y="1430698"/>
            <a:ext cx="3065429" cy="122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円/楕円 10">
            <a:extLst>
              <a:ext uri="{FF2B5EF4-FFF2-40B4-BE49-F238E27FC236}">
                <a16:creationId xmlns:a16="http://schemas.microsoft.com/office/drawing/2014/main" id="{85B70F9A-18F6-9C17-1F0D-C20159B8BC28}"/>
              </a:ext>
            </a:extLst>
          </p:cNvPr>
          <p:cNvSpPr/>
          <p:nvPr/>
        </p:nvSpPr>
        <p:spPr>
          <a:xfrm>
            <a:off x="7511710" y="3020943"/>
            <a:ext cx="2247900" cy="609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実行ファイル</a:t>
            </a:r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AC825A23-7114-FDAA-10C4-46C79C2E0300}"/>
              </a:ext>
            </a:extLst>
          </p:cNvPr>
          <p:cNvSpPr/>
          <p:nvPr/>
        </p:nvSpPr>
        <p:spPr>
          <a:xfrm>
            <a:off x="7770767" y="4651437"/>
            <a:ext cx="17297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D0D0CEDA-9211-1E83-27F0-CDF01BBDFDE6}"/>
              </a:ext>
            </a:extLst>
          </p:cNvPr>
          <p:cNvSpPr/>
          <p:nvPr/>
        </p:nvSpPr>
        <p:spPr>
          <a:xfrm>
            <a:off x="7770767" y="368970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14">
            <a:extLst>
              <a:ext uri="{FF2B5EF4-FFF2-40B4-BE49-F238E27FC236}">
                <a16:creationId xmlns:a16="http://schemas.microsoft.com/office/drawing/2014/main" id="{23410EDF-3FBC-41C3-7F5E-0B4F4030E62E}"/>
              </a:ext>
            </a:extLst>
          </p:cNvPr>
          <p:cNvSpPr/>
          <p:nvPr/>
        </p:nvSpPr>
        <p:spPr>
          <a:xfrm>
            <a:off x="7770767" y="2705858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10DAAED-E65B-DD0E-DEB5-3D9EDEBEFD71}"/>
              </a:ext>
            </a:extLst>
          </p:cNvPr>
          <p:cNvSpPr txBox="1"/>
          <p:nvPr/>
        </p:nvSpPr>
        <p:spPr>
          <a:xfrm>
            <a:off x="3012169" y="5623404"/>
            <a:ext cx="315503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/>
              <a:t>・単機能用マイコン</a:t>
            </a:r>
            <a:endParaRPr lang="en-US" altLang="ja-JP" sz="1100" dirty="0"/>
          </a:p>
          <a:p>
            <a:r>
              <a:rPr lang="ja-JP" altLang="en-US" sz="1100"/>
              <a:t>・超高速制御用マイコン</a:t>
            </a:r>
            <a:r>
              <a:rPr lang="en-US" altLang="ja-JP" sz="1100" dirty="0"/>
              <a:t>(</a:t>
            </a:r>
            <a:r>
              <a:rPr lang="ja-JP" altLang="en-US" sz="1100"/>
              <a:t>モータ</a:t>
            </a:r>
            <a:r>
              <a:rPr lang="en-US" altLang="ja-JP" sz="1100" dirty="0"/>
              <a:t>, </a:t>
            </a:r>
            <a:r>
              <a:rPr lang="ja-JP" altLang="en-US" sz="1100"/>
              <a:t>エンジン等</a:t>
            </a:r>
            <a:r>
              <a:rPr lang="en-US" altLang="ja-JP" sz="1100" dirty="0"/>
              <a:t>)</a:t>
            </a:r>
          </a:p>
          <a:p>
            <a:r>
              <a:rPr lang="ja-JP" altLang="en-US" sz="1100"/>
              <a:t>・低コスト</a:t>
            </a:r>
            <a:endParaRPr lang="en-US" altLang="ja-JP" sz="1100" dirty="0"/>
          </a:p>
          <a:p>
            <a:endParaRPr lang="en-US" altLang="ja-JP" sz="1100" dirty="0"/>
          </a:p>
          <a:p>
            <a:r>
              <a:rPr lang="ja-JP" altLang="en-US" sz="1100"/>
              <a:t>・</a:t>
            </a:r>
            <a:r>
              <a:rPr lang="en-US" altLang="ja-JP" sz="1100" dirty="0"/>
              <a:t>IT </a:t>
            </a:r>
            <a:r>
              <a:rPr lang="ja-JP" altLang="en-US" sz="1100"/>
              <a:t>２進数</a:t>
            </a:r>
            <a:r>
              <a:rPr lang="en-US" altLang="ja-JP" sz="1100" dirty="0"/>
              <a:t>, 10</a:t>
            </a:r>
            <a:r>
              <a:rPr lang="ja-JP" altLang="en-US" sz="1100"/>
              <a:t>進数</a:t>
            </a:r>
            <a:r>
              <a:rPr lang="en-US" altLang="ja-JP" sz="1100" dirty="0"/>
              <a:t>, 16</a:t>
            </a:r>
            <a:r>
              <a:rPr lang="ja-JP" altLang="en-US" sz="1100"/>
              <a:t>進数</a:t>
            </a:r>
            <a:endParaRPr lang="en-US" altLang="ja-JP" sz="1100" dirty="0"/>
          </a:p>
          <a:p>
            <a:r>
              <a:rPr lang="en-US" altLang="ja-JP" sz="1100" dirty="0"/>
              <a:t>        </a:t>
            </a:r>
            <a:r>
              <a:rPr lang="ja-JP" altLang="en-US" sz="1100"/>
              <a:t>真理値表</a:t>
            </a:r>
            <a:r>
              <a:rPr lang="en-US" altLang="ja-JP" sz="1100" dirty="0"/>
              <a:t>. AND, OR, XOR, NAND</a:t>
            </a:r>
            <a:endParaRPr lang="ja-JP" altLang="en-US" sz="110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722963E-FBE2-3729-29FE-3E3ED1556E59}"/>
              </a:ext>
            </a:extLst>
          </p:cNvPr>
          <p:cNvSpPr txBox="1"/>
          <p:nvPr/>
        </p:nvSpPr>
        <p:spPr>
          <a:xfrm>
            <a:off x="9874237" y="6052884"/>
            <a:ext cx="168818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/>
              <a:t>・パソコン</a:t>
            </a:r>
            <a:endParaRPr lang="en-US" altLang="ja-JP" sz="1100" dirty="0"/>
          </a:p>
          <a:p>
            <a:r>
              <a:rPr lang="ja-JP" altLang="en-US" sz="1100"/>
              <a:t>・カーナビ</a:t>
            </a:r>
            <a:endParaRPr lang="en-US" altLang="ja-JP" sz="1100" dirty="0"/>
          </a:p>
          <a:p>
            <a:r>
              <a:rPr lang="ja-JP" altLang="en-US" sz="1100"/>
              <a:t>・映像家電</a:t>
            </a:r>
          </a:p>
        </p:txBody>
      </p:sp>
    </p:spTree>
    <p:extLst>
      <p:ext uri="{BB962C8B-B14F-4D97-AF65-F5344CB8AC3E}">
        <p14:creationId xmlns:p14="http://schemas.microsoft.com/office/powerpoint/2010/main" val="87340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45EA-C8E2-CF63-DA90-3456C363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PUのイラスト | エコのモト">
            <a:extLst>
              <a:ext uri="{FF2B5EF4-FFF2-40B4-BE49-F238E27FC236}">
                <a16:creationId xmlns:a16="http://schemas.microsoft.com/office/drawing/2014/main" id="{C3A19AA1-8DE6-DFAB-2A08-F973E52A8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1574593" y="5589226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9810A2A8-A96C-26E0-96E4-FEEE0645D664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実行環境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12610E5-1279-8432-BD51-E744492EE37F}"/>
              </a:ext>
            </a:extLst>
          </p:cNvPr>
          <p:cNvCxnSpPr/>
          <p:nvPr/>
        </p:nvCxnSpPr>
        <p:spPr>
          <a:xfrm>
            <a:off x="6232634" y="798786"/>
            <a:ext cx="0" cy="585426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057F6446-A95E-2A7A-2499-326FAB06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7899129" y="5599151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5920DC7-BB76-076E-7FE9-1F1BEEC26E09}"/>
              </a:ext>
            </a:extLst>
          </p:cNvPr>
          <p:cNvSpPr/>
          <p:nvPr/>
        </p:nvSpPr>
        <p:spPr>
          <a:xfrm>
            <a:off x="7614267" y="5050352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BIOS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F41EA8D-F032-D227-04F6-CD88791DBF6E}"/>
              </a:ext>
            </a:extLst>
          </p:cNvPr>
          <p:cNvSpPr/>
          <p:nvPr/>
        </p:nvSpPr>
        <p:spPr>
          <a:xfrm>
            <a:off x="7614268" y="396007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四角形: 角を丸くする 35">
            <a:extLst>
              <a:ext uri="{FF2B5EF4-FFF2-40B4-BE49-F238E27FC236}">
                <a16:creationId xmlns:a16="http://schemas.microsoft.com/office/drawing/2014/main" id="{9D9E0AB1-BA75-46D5-CB42-6E6D0736A44B}"/>
              </a:ext>
            </a:extLst>
          </p:cNvPr>
          <p:cNvSpPr/>
          <p:nvPr/>
        </p:nvSpPr>
        <p:spPr>
          <a:xfrm>
            <a:off x="229335" y="640362"/>
            <a:ext cx="5186105" cy="6001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【</a:t>
            </a:r>
            <a:r>
              <a:rPr kumimoji="1" lang="ja-JP" altLang="en-US">
                <a:solidFill>
                  <a:schemeClr val="tx1"/>
                </a:solidFill>
              </a:rPr>
              <a:t>インタープリター型</a:t>
            </a:r>
            <a:r>
              <a:rPr kumimoji="1" lang="en-US" altLang="ja-JP" dirty="0">
                <a:solidFill>
                  <a:schemeClr val="tx1"/>
                </a:solidFill>
              </a:rPr>
              <a:t>】</a:t>
            </a: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ソースコードを逐次解釈して実行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35">
            <a:extLst>
              <a:ext uri="{FF2B5EF4-FFF2-40B4-BE49-F238E27FC236}">
                <a16:creationId xmlns:a16="http://schemas.microsoft.com/office/drawing/2014/main" id="{964C0D93-A47D-5008-84ED-BEDDBB956D34}"/>
              </a:ext>
            </a:extLst>
          </p:cNvPr>
          <p:cNvSpPr/>
          <p:nvPr/>
        </p:nvSpPr>
        <p:spPr>
          <a:xfrm>
            <a:off x="6525360" y="640361"/>
            <a:ext cx="5186105" cy="6001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【</a:t>
            </a:r>
            <a:r>
              <a:rPr lang="ja-JP" altLang="en-US">
                <a:solidFill>
                  <a:schemeClr val="tx1"/>
                </a:solidFill>
              </a:rPr>
              <a:t>コンパイル型</a:t>
            </a:r>
            <a:r>
              <a:rPr lang="en-US" altLang="ja-JP" dirty="0">
                <a:solidFill>
                  <a:schemeClr val="tx1"/>
                </a:solidFill>
              </a:rPr>
              <a:t>】</a:t>
            </a: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ソースコードから</a:t>
            </a:r>
            <a:r>
              <a:rPr lang="en-US" altLang="ja-JP" dirty="0">
                <a:solidFill>
                  <a:schemeClr val="tx1"/>
                </a:solidFill>
              </a:rPr>
              <a:t>OS</a:t>
            </a:r>
            <a:r>
              <a:rPr lang="ja-JP" altLang="en-US">
                <a:solidFill>
                  <a:schemeClr val="tx1"/>
                </a:solidFill>
              </a:rPr>
              <a:t>用の実行ファイルに変換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" name="Picture 2" descr="C言語の始め方【第1回 C言語とは？】※現役エンジニアによる解説 | プログラミングの始め方">
            <a:extLst>
              <a:ext uri="{FF2B5EF4-FFF2-40B4-BE49-F238E27FC236}">
                <a16:creationId xmlns:a16="http://schemas.microsoft.com/office/drawing/2014/main" id="{62DF25CD-9F1B-3E1E-049C-72F34F4DD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845" y="1430698"/>
            <a:ext cx="3065429" cy="122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円/楕円 10">
            <a:extLst>
              <a:ext uri="{FF2B5EF4-FFF2-40B4-BE49-F238E27FC236}">
                <a16:creationId xmlns:a16="http://schemas.microsoft.com/office/drawing/2014/main" id="{EA2ED3C5-9E5B-8DD2-FE56-9252833DB3F2}"/>
              </a:ext>
            </a:extLst>
          </p:cNvPr>
          <p:cNvSpPr/>
          <p:nvPr/>
        </p:nvSpPr>
        <p:spPr>
          <a:xfrm>
            <a:off x="7511710" y="3020943"/>
            <a:ext cx="2247900" cy="609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実行ファイル</a:t>
            </a:r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8E878B1C-8239-67C1-AD7C-15390D87B47D}"/>
              </a:ext>
            </a:extLst>
          </p:cNvPr>
          <p:cNvSpPr/>
          <p:nvPr/>
        </p:nvSpPr>
        <p:spPr>
          <a:xfrm>
            <a:off x="7770767" y="4651437"/>
            <a:ext cx="17297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3C5E146E-771E-B080-1FEC-CBC5E5F782F5}"/>
              </a:ext>
            </a:extLst>
          </p:cNvPr>
          <p:cNvSpPr/>
          <p:nvPr/>
        </p:nvSpPr>
        <p:spPr>
          <a:xfrm>
            <a:off x="7770767" y="368970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14">
            <a:extLst>
              <a:ext uri="{FF2B5EF4-FFF2-40B4-BE49-F238E27FC236}">
                <a16:creationId xmlns:a16="http://schemas.microsoft.com/office/drawing/2014/main" id="{08B8D99F-949C-55EE-C6AF-85B48268667D}"/>
              </a:ext>
            </a:extLst>
          </p:cNvPr>
          <p:cNvSpPr/>
          <p:nvPr/>
        </p:nvSpPr>
        <p:spPr>
          <a:xfrm>
            <a:off x="7770767" y="2705858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BC23281-EF1F-37E7-A29A-BF56324F8A10}"/>
              </a:ext>
            </a:extLst>
          </p:cNvPr>
          <p:cNvSpPr/>
          <p:nvPr/>
        </p:nvSpPr>
        <p:spPr>
          <a:xfrm>
            <a:off x="1161371" y="5022152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BIOS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52ACE5E-3C2F-9F53-F259-967568DC34BC}"/>
              </a:ext>
            </a:extLst>
          </p:cNvPr>
          <p:cNvSpPr/>
          <p:nvPr/>
        </p:nvSpPr>
        <p:spPr>
          <a:xfrm>
            <a:off x="1161372" y="393187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197763B0-D49E-0CB7-0F89-F2AE14B9345E}"/>
              </a:ext>
            </a:extLst>
          </p:cNvPr>
          <p:cNvSpPr/>
          <p:nvPr/>
        </p:nvSpPr>
        <p:spPr>
          <a:xfrm>
            <a:off x="1058814" y="2992743"/>
            <a:ext cx="2247900" cy="609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r>
              <a:rPr kumimoji="1" lang="ja-JP" altLang="en-US">
                <a:solidFill>
                  <a:schemeClr val="tx1"/>
                </a:solidFill>
              </a:rPr>
              <a:t>行ずつ読み込み都度実行</a:t>
            </a:r>
          </a:p>
        </p:txBody>
      </p:sp>
      <p:sp>
        <p:nvSpPr>
          <p:cNvPr id="20" name="下矢印 19">
            <a:extLst>
              <a:ext uri="{FF2B5EF4-FFF2-40B4-BE49-F238E27FC236}">
                <a16:creationId xmlns:a16="http://schemas.microsoft.com/office/drawing/2014/main" id="{EBAC5ED4-56AC-89F0-911E-CA978772D838}"/>
              </a:ext>
            </a:extLst>
          </p:cNvPr>
          <p:cNvSpPr/>
          <p:nvPr/>
        </p:nvSpPr>
        <p:spPr>
          <a:xfrm>
            <a:off x="1317871" y="4623237"/>
            <a:ext cx="17297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>
            <a:extLst>
              <a:ext uri="{FF2B5EF4-FFF2-40B4-BE49-F238E27FC236}">
                <a16:creationId xmlns:a16="http://schemas.microsoft.com/office/drawing/2014/main" id="{1DBEAD44-E622-0D4B-51B9-0D947B16DB65}"/>
              </a:ext>
            </a:extLst>
          </p:cNvPr>
          <p:cNvSpPr/>
          <p:nvPr/>
        </p:nvSpPr>
        <p:spPr>
          <a:xfrm>
            <a:off x="1317871" y="366150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下矢印 21">
            <a:extLst>
              <a:ext uri="{FF2B5EF4-FFF2-40B4-BE49-F238E27FC236}">
                <a16:creationId xmlns:a16="http://schemas.microsoft.com/office/drawing/2014/main" id="{1C883445-9D87-B3EA-788E-56B1F8D17732}"/>
              </a:ext>
            </a:extLst>
          </p:cNvPr>
          <p:cNvSpPr/>
          <p:nvPr/>
        </p:nvSpPr>
        <p:spPr>
          <a:xfrm>
            <a:off x="1317871" y="2677658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46" name="Picture 2" descr="無料のPython入門講座 プログラミングの基礎知識を身につけられる | Ledge.ai">
            <a:extLst>
              <a:ext uri="{FF2B5EF4-FFF2-40B4-BE49-F238E27FC236}">
                <a16:creationId xmlns:a16="http://schemas.microsoft.com/office/drawing/2014/main" id="{A30B0404-7462-B31E-1353-379B4DB45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371" y="1343054"/>
            <a:ext cx="2030275" cy="124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BF3126A-A27D-19D2-5C87-7D5C48504378}"/>
              </a:ext>
            </a:extLst>
          </p:cNvPr>
          <p:cNvSpPr txBox="1"/>
          <p:nvPr/>
        </p:nvSpPr>
        <p:spPr>
          <a:xfrm>
            <a:off x="3239691" y="2575641"/>
            <a:ext cx="2462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インタープリター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/>
              <a:t>（翻訳機）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E58DE58-7083-9636-A5E6-93B01DBFACF1}"/>
              </a:ext>
            </a:extLst>
          </p:cNvPr>
          <p:cNvSpPr txBox="1"/>
          <p:nvPr/>
        </p:nvSpPr>
        <p:spPr>
          <a:xfrm>
            <a:off x="9729941" y="2660333"/>
            <a:ext cx="2462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コンパイラ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/>
              <a:t>（変換機）</a:t>
            </a:r>
          </a:p>
        </p:txBody>
      </p:sp>
    </p:spTree>
    <p:extLst>
      <p:ext uri="{BB962C8B-B14F-4D97-AF65-F5344CB8AC3E}">
        <p14:creationId xmlns:p14="http://schemas.microsoft.com/office/powerpoint/2010/main" val="3356750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45EA-C8E2-CF63-DA90-3456C363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9810A2A8-A96C-26E0-96E4-FEEE0645D664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実行環境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12610E5-1279-8432-BD51-E744492EE37F}"/>
              </a:ext>
            </a:extLst>
          </p:cNvPr>
          <p:cNvCxnSpPr/>
          <p:nvPr/>
        </p:nvCxnSpPr>
        <p:spPr>
          <a:xfrm>
            <a:off x="6232634" y="798786"/>
            <a:ext cx="0" cy="585426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PUのイラスト | エコのモト">
            <a:extLst>
              <a:ext uri="{FF2B5EF4-FFF2-40B4-BE49-F238E27FC236}">
                <a16:creationId xmlns:a16="http://schemas.microsoft.com/office/drawing/2014/main" id="{057F6446-A95E-2A7A-2499-326FAB06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895382" y="5599151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5920DC7-BB76-076E-7FE9-1F1BEEC26E09}"/>
              </a:ext>
            </a:extLst>
          </p:cNvPr>
          <p:cNvSpPr/>
          <p:nvPr/>
        </p:nvSpPr>
        <p:spPr>
          <a:xfrm>
            <a:off x="610520" y="5050352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BIOS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F41EA8D-F032-D227-04F6-CD88791DBF6E}"/>
              </a:ext>
            </a:extLst>
          </p:cNvPr>
          <p:cNvSpPr/>
          <p:nvPr/>
        </p:nvSpPr>
        <p:spPr>
          <a:xfrm>
            <a:off x="610521" y="396007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四角形: 角を丸くする 35">
            <a:extLst>
              <a:ext uri="{FF2B5EF4-FFF2-40B4-BE49-F238E27FC236}">
                <a16:creationId xmlns:a16="http://schemas.microsoft.com/office/drawing/2014/main" id="{964C0D93-A47D-5008-84ED-BEDDBB956D34}"/>
              </a:ext>
            </a:extLst>
          </p:cNvPr>
          <p:cNvSpPr/>
          <p:nvPr/>
        </p:nvSpPr>
        <p:spPr>
          <a:xfrm>
            <a:off x="355729" y="640361"/>
            <a:ext cx="5186105" cy="6001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【C</a:t>
            </a:r>
            <a:r>
              <a:rPr lang="ja-JP" altLang="en-US" dirty="0">
                <a:solidFill>
                  <a:schemeClr val="tx1"/>
                </a:solidFill>
              </a:rPr>
              <a:t>言語</a:t>
            </a:r>
            <a:r>
              <a:rPr lang="en-US" altLang="ja-JP" dirty="0">
                <a:solidFill>
                  <a:schemeClr val="tx1"/>
                </a:solidFill>
              </a:rPr>
              <a:t>】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OS</a:t>
            </a:r>
            <a:r>
              <a:rPr lang="ja-JP" altLang="en-US" dirty="0">
                <a:solidFill>
                  <a:schemeClr val="tx1"/>
                </a:solidFill>
              </a:rPr>
              <a:t>上で直接実行可能な実行ファイルを生成</a:t>
            </a:r>
            <a:endParaRPr lang="en-US" altLang="ja-JP" dirty="0">
              <a:solidFill>
                <a:schemeClr val="tx1"/>
              </a:solidFill>
            </a:endParaRPr>
          </a:p>
        </p:txBody>
      </p:sp>
      <p:pic>
        <p:nvPicPr>
          <p:cNvPr id="10" name="Picture 2" descr="C言語の始め方【第1回 C言語とは？】※現役エンジニアによる解説 | プログラミングの始め方">
            <a:extLst>
              <a:ext uri="{FF2B5EF4-FFF2-40B4-BE49-F238E27FC236}">
                <a16:creationId xmlns:a16="http://schemas.microsoft.com/office/drawing/2014/main" id="{62DF25CD-9F1B-3E1E-049C-72F34F4DD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98" y="1430698"/>
            <a:ext cx="3065429" cy="122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円/楕円 10">
            <a:extLst>
              <a:ext uri="{FF2B5EF4-FFF2-40B4-BE49-F238E27FC236}">
                <a16:creationId xmlns:a16="http://schemas.microsoft.com/office/drawing/2014/main" id="{EA2ED3C5-9E5B-8DD2-FE56-9252833DB3F2}"/>
              </a:ext>
            </a:extLst>
          </p:cNvPr>
          <p:cNvSpPr/>
          <p:nvPr/>
        </p:nvSpPr>
        <p:spPr>
          <a:xfrm>
            <a:off x="507963" y="3020943"/>
            <a:ext cx="2247900" cy="609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実行ファイル</a:t>
            </a:r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8E878B1C-8239-67C1-AD7C-15390D87B47D}"/>
              </a:ext>
            </a:extLst>
          </p:cNvPr>
          <p:cNvSpPr/>
          <p:nvPr/>
        </p:nvSpPr>
        <p:spPr>
          <a:xfrm>
            <a:off x="767020" y="4651437"/>
            <a:ext cx="17297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3C5E146E-771E-B080-1FEC-CBC5E5F782F5}"/>
              </a:ext>
            </a:extLst>
          </p:cNvPr>
          <p:cNvSpPr/>
          <p:nvPr/>
        </p:nvSpPr>
        <p:spPr>
          <a:xfrm>
            <a:off x="767020" y="368970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14">
            <a:extLst>
              <a:ext uri="{FF2B5EF4-FFF2-40B4-BE49-F238E27FC236}">
                <a16:creationId xmlns:a16="http://schemas.microsoft.com/office/drawing/2014/main" id="{08B8D99F-949C-55EE-C6AF-85B48268667D}"/>
              </a:ext>
            </a:extLst>
          </p:cNvPr>
          <p:cNvSpPr/>
          <p:nvPr/>
        </p:nvSpPr>
        <p:spPr>
          <a:xfrm>
            <a:off x="767020" y="2705858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E58DE58-7083-9636-A5E6-93B01DBFACF1}"/>
              </a:ext>
            </a:extLst>
          </p:cNvPr>
          <p:cNvSpPr txBox="1"/>
          <p:nvPr/>
        </p:nvSpPr>
        <p:spPr>
          <a:xfrm>
            <a:off x="2726194" y="2660333"/>
            <a:ext cx="2462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コンパイラ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/>
              <a:t>（変換機）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24D655-13D0-135B-F384-2E4823680099}"/>
              </a:ext>
            </a:extLst>
          </p:cNvPr>
          <p:cNvSpPr txBox="1"/>
          <p:nvPr/>
        </p:nvSpPr>
        <p:spPr>
          <a:xfrm>
            <a:off x="2972259" y="4390987"/>
            <a:ext cx="3142606" cy="646331"/>
          </a:xfrm>
          <a:prstGeom prst="rect">
            <a:avLst/>
          </a:prstGeom>
          <a:solidFill>
            <a:srgbClr val="FF99FF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・</a:t>
            </a:r>
            <a:r>
              <a:rPr lang="en-US" altLang="ja-JP" dirty="0"/>
              <a:t>OS</a:t>
            </a:r>
            <a:r>
              <a:rPr lang="ja-JP" altLang="en-US" dirty="0"/>
              <a:t>毎に一部処理が異なり</a:t>
            </a:r>
            <a:endParaRPr lang="en-US" altLang="ja-JP" dirty="0"/>
          </a:p>
          <a:p>
            <a:r>
              <a:rPr lang="ja-JP" altLang="en-US" dirty="0"/>
              <a:t>　互換性が低い</a:t>
            </a:r>
          </a:p>
        </p:txBody>
      </p:sp>
      <p:pic>
        <p:nvPicPr>
          <p:cNvPr id="5" name="Picture 2" descr="CPUのイラスト | エコのモト">
            <a:extLst>
              <a:ext uri="{FF2B5EF4-FFF2-40B4-BE49-F238E27FC236}">
                <a16:creationId xmlns:a16="http://schemas.microsoft.com/office/drawing/2014/main" id="{E79420A6-E59F-755D-B8F8-382E92B4B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7607" r="6048" b="8288"/>
          <a:stretch>
            <a:fillRect/>
          </a:stretch>
        </p:blipFill>
        <p:spPr bwMode="auto">
          <a:xfrm>
            <a:off x="6760739" y="5599151"/>
            <a:ext cx="1473065" cy="12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48E576-CD13-81B3-5EAF-E40B3F76C083}"/>
              </a:ext>
            </a:extLst>
          </p:cNvPr>
          <p:cNvSpPr/>
          <p:nvPr/>
        </p:nvSpPr>
        <p:spPr>
          <a:xfrm>
            <a:off x="6475877" y="5050352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BIOS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64F68F9-5578-37A9-516D-0B11024008D2}"/>
              </a:ext>
            </a:extLst>
          </p:cNvPr>
          <p:cNvSpPr/>
          <p:nvPr/>
        </p:nvSpPr>
        <p:spPr>
          <a:xfrm>
            <a:off x="6475878" y="396007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下矢印 12">
            <a:extLst>
              <a:ext uri="{FF2B5EF4-FFF2-40B4-BE49-F238E27FC236}">
                <a16:creationId xmlns:a16="http://schemas.microsoft.com/office/drawing/2014/main" id="{3EDD2C31-798C-B6AA-A7A2-C015AF23EB96}"/>
              </a:ext>
            </a:extLst>
          </p:cNvPr>
          <p:cNvSpPr/>
          <p:nvPr/>
        </p:nvSpPr>
        <p:spPr>
          <a:xfrm>
            <a:off x="6632377" y="4651437"/>
            <a:ext cx="17297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下矢印 13">
            <a:extLst>
              <a:ext uri="{FF2B5EF4-FFF2-40B4-BE49-F238E27FC236}">
                <a16:creationId xmlns:a16="http://schemas.microsoft.com/office/drawing/2014/main" id="{48E59AB9-D35D-7800-08E8-3FCC07765C09}"/>
              </a:ext>
            </a:extLst>
          </p:cNvPr>
          <p:cNvSpPr/>
          <p:nvPr/>
        </p:nvSpPr>
        <p:spPr>
          <a:xfrm>
            <a:off x="6632377" y="368970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9198E1-2528-3AB4-7798-4EEF51890C2A}"/>
              </a:ext>
            </a:extLst>
          </p:cNvPr>
          <p:cNvSpPr/>
          <p:nvPr/>
        </p:nvSpPr>
        <p:spPr>
          <a:xfrm>
            <a:off x="6475876" y="2998347"/>
            <a:ext cx="2243969" cy="6096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dotNetFramework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円/楕円 10">
            <a:extLst>
              <a:ext uri="{FF2B5EF4-FFF2-40B4-BE49-F238E27FC236}">
                <a16:creationId xmlns:a16="http://schemas.microsoft.com/office/drawing/2014/main" id="{659701B2-70D1-9057-CB7D-CF4122256CD1}"/>
              </a:ext>
            </a:extLst>
          </p:cNvPr>
          <p:cNvSpPr/>
          <p:nvPr/>
        </p:nvSpPr>
        <p:spPr>
          <a:xfrm>
            <a:off x="6417124" y="2034302"/>
            <a:ext cx="2247900" cy="609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中間アセンブリ</a:t>
            </a:r>
          </a:p>
        </p:txBody>
      </p:sp>
      <p:sp>
        <p:nvSpPr>
          <p:cNvPr id="25" name="下矢印 13">
            <a:extLst>
              <a:ext uri="{FF2B5EF4-FFF2-40B4-BE49-F238E27FC236}">
                <a16:creationId xmlns:a16="http://schemas.microsoft.com/office/drawing/2014/main" id="{33559F7A-84DE-C5C4-BCA0-63B802B68631}"/>
              </a:ext>
            </a:extLst>
          </p:cNvPr>
          <p:cNvSpPr/>
          <p:nvPr/>
        </p:nvSpPr>
        <p:spPr>
          <a:xfrm>
            <a:off x="6676181" y="2703066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下矢印 14">
            <a:extLst>
              <a:ext uri="{FF2B5EF4-FFF2-40B4-BE49-F238E27FC236}">
                <a16:creationId xmlns:a16="http://schemas.microsoft.com/office/drawing/2014/main" id="{3375D72A-0C66-FF27-3563-147B9A8FA5A8}"/>
              </a:ext>
            </a:extLst>
          </p:cNvPr>
          <p:cNvSpPr/>
          <p:nvPr/>
        </p:nvSpPr>
        <p:spPr>
          <a:xfrm>
            <a:off x="6676181" y="1719217"/>
            <a:ext cx="1729787" cy="240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799442A0-018B-D896-57FC-5811968740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31" t="24329" r="46135" b="45816"/>
          <a:stretch/>
        </p:blipFill>
        <p:spPr>
          <a:xfrm>
            <a:off x="6350404" y="639061"/>
            <a:ext cx="2514158" cy="1001090"/>
          </a:xfrm>
          <a:prstGeom prst="rect">
            <a:avLst/>
          </a:prstGeom>
        </p:spPr>
      </p:pic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0351AA6-85ED-E3F5-FF50-071946BEE6EA}"/>
              </a:ext>
            </a:extLst>
          </p:cNvPr>
          <p:cNvSpPr/>
          <p:nvPr/>
        </p:nvSpPr>
        <p:spPr>
          <a:xfrm>
            <a:off x="8919978" y="572652"/>
            <a:ext cx="3201617" cy="10709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【C#</a:t>
            </a:r>
            <a:r>
              <a:rPr lang="ja-JP" altLang="en-US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(Java</a:t>
            </a:r>
            <a:r>
              <a:rPr lang="ja-JP" altLang="en-US" dirty="0">
                <a:solidFill>
                  <a:schemeClr val="tx1"/>
                </a:solidFill>
              </a:rPr>
              <a:t>も同様</a:t>
            </a:r>
            <a:r>
              <a:rPr lang="en-US" altLang="ja-JP" dirty="0">
                <a:solidFill>
                  <a:schemeClr val="tx1"/>
                </a:solidFill>
              </a:rPr>
              <a:t>)】</a:t>
            </a:r>
          </a:p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dotNetFrameWork</a:t>
            </a:r>
            <a:r>
              <a:rPr lang="ja-JP" altLang="en-US" dirty="0">
                <a:solidFill>
                  <a:schemeClr val="tx1"/>
                </a:solidFill>
              </a:rPr>
              <a:t>上で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動作するアセンブリを生成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94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3E56-9634-2FB9-3BA8-98533690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8546B146-EEDB-7682-4BEA-818FA22B52DC}"/>
              </a:ext>
            </a:extLst>
          </p:cNvPr>
          <p:cNvSpPr/>
          <p:nvPr/>
        </p:nvSpPr>
        <p:spPr>
          <a:xfrm>
            <a:off x="3745421" y="96095"/>
            <a:ext cx="4974425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制御プログラム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kumimoji="1" lang="ja-JP" altLang="en-US">
                <a:solidFill>
                  <a:schemeClr val="tx1"/>
                </a:solidFill>
              </a:rPr>
              <a:t>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FC9116-1BCA-0D16-4850-AEDB16FF5391}"/>
              </a:ext>
            </a:extLst>
          </p:cNvPr>
          <p:cNvSpPr txBox="1"/>
          <p:nvPr/>
        </p:nvSpPr>
        <p:spPr>
          <a:xfrm>
            <a:off x="105753" y="708258"/>
            <a:ext cx="6157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・ある程度の電子回路の知識が必要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1D67CC-008C-A66A-D27A-D91DA3254C7A}"/>
              </a:ext>
            </a:extLst>
          </p:cNvPr>
          <p:cNvSpPr txBox="1"/>
          <p:nvPr/>
        </p:nvSpPr>
        <p:spPr>
          <a:xfrm>
            <a:off x="195416" y="1277481"/>
            <a:ext cx="6037217" cy="224676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400" dirty="0">
                <a:solidFill>
                  <a:srgbClr val="FF0000"/>
                </a:solidFill>
              </a:rPr>
              <a:t>1. </a:t>
            </a:r>
            <a:r>
              <a:rPr lang="ja-JP" altLang="en-US" sz="1400">
                <a:solidFill>
                  <a:srgbClr val="FF0000"/>
                </a:solidFill>
              </a:rPr>
              <a:t>デジタル回路の基礎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1">
                    <a:lumMod val="75000"/>
                  </a:schemeClr>
                </a:solidFill>
              </a:rPr>
              <a:t>論理回路の考え方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sz="1400" dirty="0"/>
              <a:t>AND / OR / NOT / </a:t>
            </a:r>
            <a:r>
              <a:rPr lang="ja-JP" altLang="en-US" sz="1400"/>
              <a:t>フリップフロップ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レジスタ、カウンタの概念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1">
                    <a:lumMod val="75000"/>
                  </a:schemeClr>
                </a:solidFill>
              </a:rPr>
              <a:t>信号の意味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sz="1400" dirty="0"/>
              <a:t>HIGH / 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プルアップ・プルダウン抵抗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1">
                    <a:lumMod val="75000"/>
                  </a:schemeClr>
                </a:solidFill>
              </a:rPr>
              <a:t>クロック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クロック周波数、ジッタ、立ち上がり</a:t>
            </a:r>
            <a:r>
              <a:rPr lang="en-US" altLang="ja-JP" sz="1400" dirty="0"/>
              <a:t>/</a:t>
            </a:r>
            <a:r>
              <a:rPr lang="ja-JP" altLang="en-US" sz="1400"/>
              <a:t>立ち下がり</a:t>
            </a:r>
            <a:br>
              <a:rPr lang="ja-JP" altLang="en-US" sz="1400"/>
            </a:br>
            <a:r>
              <a:rPr lang="en" altLang="ja-JP" sz="1400" dirty="0"/>
              <a:t>GPIO</a:t>
            </a:r>
            <a:r>
              <a:rPr lang="ja-JP" altLang="en-US" sz="1400"/>
              <a:t>が「なぜこの設定で動かないのか」を説明できるレベル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CB8E4B-B756-4552-F51A-5837A006B182}"/>
              </a:ext>
            </a:extLst>
          </p:cNvPr>
          <p:cNvSpPr txBox="1"/>
          <p:nvPr/>
        </p:nvSpPr>
        <p:spPr>
          <a:xfrm>
            <a:off x="195416" y="3779014"/>
            <a:ext cx="6037217" cy="224676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400" dirty="0">
                <a:solidFill>
                  <a:srgbClr val="FF0000"/>
                </a:solidFill>
              </a:rPr>
              <a:t>2. </a:t>
            </a:r>
            <a:r>
              <a:rPr lang="ja-JP" altLang="en-US" sz="1400">
                <a:solidFill>
                  <a:srgbClr val="FF0000"/>
                </a:solidFill>
              </a:rPr>
              <a:t>マイコン周辺回路の基本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5">
                    <a:lumMod val="75000"/>
                  </a:schemeClr>
                </a:solidFill>
              </a:rPr>
              <a:t>電源回路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レギュレータ（</a:t>
            </a:r>
            <a:r>
              <a:rPr lang="en" altLang="ja-JP" sz="1400" dirty="0"/>
              <a:t>LDO / DC-DC</a:t>
            </a:r>
            <a:r>
              <a:rPr lang="ja-JP" altLang="en" sz="1400"/>
              <a:t>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デカップリングコンデンサの役割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5">
                    <a:lumMod val="75000"/>
                  </a:schemeClr>
                </a:solidFill>
              </a:rPr>
              <a:t>リセット回路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sz="1400" dirty="0"/>
              <a:t>POR</a:t>
            </a:r>
            <a:r>
              <a:rPr lang="ja-JP" altLang="en" sz="1400"/>
              <a:t>（</a:t>
            </a:r>
            <a:r>
              <a:rPr lang="en" altLang="ja-JP" sz="1400" dirty="0"/>
              <a:t>Power On Reset</a:t>
            </a:r>
            <a:r>
              <a:rPr lang="ja-JP" altLang="en" sz="1400"/>
              <a:t>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リセット</a:t>
            </a:r>
            <a:r>
              <a:rPr lang="en" altLang="ja-JP" sz="1400" dirty="0"/>
              <a:t>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5">
                    <a:lumMod val="75000"/>
                  </a:schemeClr>
                </a:solidFill>
              </a:rPr>
              <a:t>クロック回路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内部</a:t>
            </a:r>
            <a:r>
              <a:rPr lang="en" altLang="ja-JP" sz="1400" dirty="0"/>
              <a:t>RC / </a:t>
            </a:r>
            <a:r>
              <a:rPr lang="ja-JP" altLang="en-US" sz="1400"/>
              <a:t>外部水晶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発振しない原因の想像がつくこと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293D973-BB35-2C5C-412A-4DD184D8AD83}"/>
              </a:ext>
            </a:extLst>
          </p:cNvPr>
          <p:cNvSpPr txBox="1"/>
          <p:nvPr/>
        </p:nvSpPr>
        <p:spPr>
          <a:xfrm>
            <a:off x="6705600" y="1298108"/>
            <a:ext cx="4848225" cy="181588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400" dirty="0">
                <a:solidFill>
                  <a:srgbClr val="FF0000"/>
                </a:solidFill>
              </a:rPr>
              <a:t>3. </a:t>
            </a:r>
            <a:r>
              <a:rPr lang="ja-JP" altLang="en-US" sz="1400">
                <a:solidFill>
                  <a:srgbClr val="FF0000"/>
                </a:solidFill>
              </a:rPr>
              <a:t>アナログの基本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accent5">
                    <a:lumMod val="75000"/>
                  </a:schemeClr>
                </a:solidFill>
              </a:rPr>
              <a:t>オームの法則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1400" dirty="0"/>
              <a:t>RC</a:t>
            </a:r>
            <a:r>
              <a:rPr lang="ja-JP" altLang="en-US" sz="1400"/>
              <a:t>回路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時定数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チャタリング対策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1400" dirty="0">
                <a:solidFill>
                  <a:schemeClr val="accent5">
                    <a:lumMod val="75000"/>
                  </a:schemeClr>
                </a:solidFill>
              </a:rPr>
              <a:t>ADC</a:t>
            </a:r>
            <a:r>
              <a:rPr lang="ja-JP" altLang="en-US" sz="1400">
                <a:solidFill>
                  <a:schemeClr val="accent5">
                    <a:lumMod val="75000"/>
                  </a:schemeClr>
                </a:solidFill>
              </a:rPr>
              <a:t>の前段回路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分圧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400"/>
              <a:t>フィルタ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8B17DA-ED54-F555-F180-F33F85D01F64}"/>
              </a:ext>
            </a:extLst>
          </p:cNvPr>
          <p:cNvSpPr txBox="1"/>
          <p:nvPr/>
        </p:nvSpPr>
        <p:spPr>
          <a:xfrm>
            <a:off x="6705600" y="3779014"/>
            <a:ext cx="4848225" cy="73866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400" dirty="0">
                <a:solidFill>
                  <a:srgbClr val="FF0000"/>
                </a:solidFill>
              </a:rPr>
              <a:t>4. </a:t>
            </a:r>
            <a:r>
              <a:rPr lang="ja-JP" altLang="en-US" sz="1400">
                <a:solidFill>
                  <a:srgbClr val="FF0000"/>
                </a:solidFill>
              </a:rPr>
              <a:t>通信に関する知識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1400" dirty="0">
                <a:solidFill>
                  <a:srgbClr val="0070C0"/>
                </a:solidFill>
              </a:rPr>
              <a:t>UART / SPI / I2C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0070C0"/>
                </a:solidFill>
              </a:rPr>
              <a:t>RS232C / RS422 / RS485</a:t>
            </a:r>
            <a:endParaRPr lang="en" altLang="ja-JP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83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45457</TotalTime>
  <Words>741</Words>
  <Application>Microsoft Office PowerPoint</Application>
  <PresentationFormat>ワイド画面</PresentationFormat>
  <Paragraphs>135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Helvetica Neue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隆幸 坂本</dc:creator>
  <cp:lastModifiedBy>SAKAMOTO Takayuki 坂本 隆幸</cp:lastModifiedBy>
  <cp:revision>260</cp:revision>
  <dcterms:created xsi:type="dcterms:W3CDTF">2023-08-26T05:23:07Z</dcterms:created>
  <dcterms:modified xsi:type="dcterms:W3CDTF">2026-02-11T06:50:34Z</dcterms:modified>
</cp:coreProperties>
</file>
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59" r:id="rId3"/>
    <p:sldId id="266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8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56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412DA7-647E-5172-BDA4-51106BC9FC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4757CC8-347B-0C68-F73E-A0EF3149B2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8C9CA1E-33FD-0E01-CA8B-D14A7E7A8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07765-01A4-448E-ABA2-33C1CABB39CA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432F921-FE59-D635-D468-3B9151FA4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B4617B3-17E7-67F9-13A0-665BE08B5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E7D80-A33D-4BF2-A886-A4F34695C4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1166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56405E-2CDA-1E1D-F039-D7326818F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E88B2A5-8B62-3215-8993-39774E3701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34578B9-DDBD-E131-499E-FBE67B41F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07765-01A4-448E-ABA2-33C1CABB39CA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1647A69-AAA6-1B21-657E-617A21BCB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ADD6FAB-44FD-D8AE-E1AD-7483C3C3C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E7D80-A33D-4BF2-A886-A4F34695C4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0096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19FDE7-6A3D-3320-2F6C-3A33A8629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C0C65F0-37AD-B6DC-D5D3-3A154EB849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C502073-722E-E908-3EF9-12E2155E9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07765-01A4-448E-ABA2-33C1CABB39CA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346708B-F6EC-57F7-5C36-8C16B1192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D21D931-DAD0-AA6A-8E32-4AB182E91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E7D80-A33D-4BF2-A886-A4F34695C4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4586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38CABD-60E1-5D06-2E0B-CCB980A3F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5DF0427-DD49-D8D7-C379-49221E19AB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D83D311-8157-8296-88E9-1E21816634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9FA879E-6476-E306-D87A-C49C0DCCF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07765-01A4-448E-ABA2-33C1CABB39CA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0C4F5FA-E818-5802-6431-FAE5324EF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F6E98F5-760E-D7A9-2DA8-299190811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E7D80-A33D-4BF2-A886-A4F34695C4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46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28314A-8146-F168-3205-9227970AF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24FF57-0A90-D245-392E-6599AE5D1E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29646A9-1D69-2F6F-086F-8DB0E1E711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D4B7FBF-6968-54E7-E91F-08956BD4B9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D4C0996-7B27-AE44-01ED-68BD01BB1D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1D3B50A-53A0-ED01-45CE-FE856FA2A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07765-01A4-448E-ABA2-33C1CABB39CA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72D8C04-15C7-4AB8-C57D-FF426BB1C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8171608-0B55-3A8B-AAA5-847063482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E7D80-A33D-4BF2-A886-A4F34695C4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1215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45335A-1083-6462-7415-91B8A3D82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A87AE2B-384B-3B61-7E4A-931BCE51B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07765-01A4-448E-ABA2-33C1CABB39CA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F02B845-16E2-7DD2-4522-AF754B3A2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7715930-724F-CBB5-A8D7-D1F3B2813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E7D80-A33D-4BF2-A886-A4F34695C4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397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9C66775-2A1C-DE58-4D0D-73248A2B5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07765-01A4-448E-ABA2-33C1CABB39CA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72E2672-1422-7FA0-7A98-0CF19CB07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3C4645F-4D5B-35DD-22E0-92FCB3F1C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E7D80-A33D-4BF2-A886-A4F34695C4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896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E9B64C-FDA0-87A3-8E63-F30C23567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5E8ED8E-CD4E-6008-CB18-74D3EE5808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42497C5-DD55-FBEA-128C-8C7F8123B6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6846127-D00E-6D88-B395-19FCD7376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07765-01A4-448E-ABA2-33C1CABB39CA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8D817BE-ACA9-B4CA-BD76-22B61C749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A983574-A1D8-7B52-3EB3-DB2C3BA19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E7D80-A33D-4BF2-A886-A4F34695C4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2112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CDA5C0-FDD9-76BA-5A3A-21EAB87EE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7F3C2DD-30AE-5FBB-AF17-00E2742EC4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EAFA1A4-EB01-807D-B3ED-21483135F0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B0038D0-D769-3A2B-ACC7-F3FEAF08E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07765-01A4-448E-ABA2-33C1CABB39CA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BCDFF21-44F7-3F0B-6D46-3C00C1D69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0ADBC56-C77F-98A1-D175-CAE8C4E8D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E7D80-A33D-4BF2-A886-A4F34695C4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6259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4C0E22-6C43-0002-D721-411755676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41C4164-B647-F998-1BB1-747652B55B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EEDF60-FC38-B476-8A57-331C3B342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07765-01A4-448E-ABA2-33C1CABB39CA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6428788-62F3-7D5E-29DE-5CDC3A212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2855F72-6737-154C-961A-D700CC197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E7D80-A33D-4BF2-A886-A4F34695C4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275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79960CA-AD31-87EC-0EFC-CB9EFFE09F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E56ED91-6B2D-0C11-0C04-747E2B87BE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3BDEF5A-5861-A1BC-E98E-2720704E6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07765-01A4-448E-ABA2-33C1CABB39CA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2D652BF-264E-D074-A401-865256A57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6300941-2399-0E23-0BB7-729A69B83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E7D80-A33D-4BF2-A886-A4F34695C4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9045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80FB838-AB0F-35C5-F96F-2385B5EA3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CFE2DF9-D552-9F0C-532E-B48B91B8DF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0D7CD21-2D8A-015F-E765-F1BD6D9F1C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E07765-01A4-448E-ABA2-33C1CABB39CA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92247D9-6E05-FD94-FDD2-A02AC701EB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288AC33-AC01-A495-298D-0FEA80C914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9E7D80-A33D-4BF2-A886-A4F34695C4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7008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四角形: 角を丸くする 35">
            <a:extLst>
              <a:ext uri="{FF2B5EF4-FFF2-40B4-BE49-F238E27FC236}">
                <a16:creationId xmlns:a16="http://schemas.microsoft.com/office/drawing/2014/main" id="{BE01BCC6-492B-21F8-9BAE-A58C1407EF9B}"/>
              </a:ext>
            </a:extLst>
          </p:cNvPr>
          <p:cNvSpPr/>
          <p:nvPr/>
        </p:nvSpPr>
        <p:spPr>
          <a:xfrm>
            <a:off x="3757470" y="125270"/>
            <a:ext cx="4974425" cy="44173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>
                <a:solidFill>
                  <a:schemeClr val="tx1"/>
                </a:solidFill>
              </a:rPr>
              <a:t>自己紹介</a:t>
            </a:r>
            <a:endParaRPr kumimoji="1" lang="ja-JP" altLang="en-US" sz="2400" dirty="0">
              <a:solidFill>
                <a:schemeClr val="tx1"/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0D48384-B9DB-CACB-EC48-DB2BDAD58E7C}"/>
              </a:ext>
            </a:extLst>
          </p:cNvPr>
          <p:cNvSpPr txBox="1"/>
          <p:nvPr/>
        </p:nvSpPr>
        <p:spPr>
          <a:xfrm>
            <a:off x="254668" y="1137717"/>
            <a:ext cx="11682663" cy="3893245"/>
          </a:xfrm>
          <a:prstGeom prst="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algn="l" fontAlgn="base">
              <a:lnSpc>
                <a:spcPct val="200000"/>
              </a:lnSpc>
              <a:buNone/>
            </a:pPr>
            <a:r>
              <a:rPr lang="en-US" altLang="ja-JP" sz="20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【</a:t>
            </a:r>
            <a:r>
              <a:rPr lang="ja-JP" altLang="en-US" sz="20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自己紹介</a:t>
            </a:r>
            <a:r>
              <a:rPr lang="en-US" altLang="ja-JP" sz="20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】</a:t>
            </a:r>
            <a:br>
              <a:rPr lang="en-US" altLang="ja-JP" sz="20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</a:br>
            <a:r>
              <a:rPr lang="ja-JP" altLang="en-US" sz="20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・年齢：</a:t>
            </a:r>
            <a:r>
              <a:rPr lang="en-US" altLang="ja-JP" sz="20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55</a:t>
            </a:r>
            <a:r>
              <a:rPr lang="ja-JP" altLang="en-US" sz="20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歳</a:t>
            </a:r>
          </a:p>
          <a:p>
            <a:pPr algn="l" fontAlgn="base">
              <a:lnSpc>
                <a:spcPct val="200000"/>
              </a:lnSpc>
              <a:buNone/>
            </a:pPr>
            <a:r>
              <a:rPr lang="ja-JP" altLang="en-US" sz="20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・言語等：</a:t>
            </a:r>
            <a:r>
              <a:rPr lang="en" altLang="ja-JP" sz="20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C#/C/Python/PLC/HTML/CSS/JavaScript/jQuery/Linux/MySQL/Docker</a:t>
            </a:r>
          </a:p>
          <a:p>
            <a:pPr algn="l" fontAlgn="base">
              <a:lnSpc>
                <a:spcPct val="200000"/>
              </a:lnSpc>
              <a:buNone/>
            </a:pPr>
            <a:r>
              <a:rPr lang="ja-JP" altLang="en-US" sz="2000" dirty="0">
                <a:solidFill>
                  <a:srgbClr val="333333"/>
                </a:solidFill>
                <a:latin typeface="Helvetica Neue" panose="02000503000000020004" pitchFamily="2" charset="0"/>
              </a:rPr>
              <a:t>・通信等：</a:t>
            </a:r>
            <a:r>
              <a:rPr lang="en-US" altLang="ja-JP" sz="2000" dirty="0">
                <a:solidFill>
                  <a:srgbClr val="333333"/>
                </a:solidFill>
                <a:latin typeface="Helvetica Neue" panose="02000503000000020004" pitchFamily="2" charset="0"/>
              </a:rPr>
              <a:t>CAN / RS232C / RS422,485</a:t>
            </a:r>
            <a:endParaRPr lang="en" altLang="ja-JP" sz="2000" b="0" i="0" dirty="0">
              <a:solidFill>
                <a:srgbClr val="333333"/>
              </a:solidFill>
              <a:effectLst/>
              <a:latin typeface="Helvetica Neue" panose="02000503000000020004" pitchFamily="2" charset="0"/>
            </a:endParaRPr>
          </a:p>
          <a:p>
            <a:pPr algn="l" fontAlgn="base">
              <a:lnSpc>
                <a:spcPct val="150000"/>
              </a:lnSpc>
            </a:pPr>
            <a:r>
              <a:rPr lang="ja-JP" altLang="en" sz="20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・</a:t>
            </a:r>
            <a:r>
              <a:rPr lang="ja-JP" altLang="en-US" sz="20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職歴の概略：関西の複数の機械メーカーで組込制御開発に約</a:t>
            </a:r>
            <a:r>
              <a:rPr lang="en-US" altLang="ja-JP" sz="20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20</a:t>
            </a:r>
            <a:r>
              <a:rPr lang="ja-JP" altLang="en-US" sz="20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年従事した後、</a:t>
            </a:r>
            <a:endParaRPr lang="en-US" altLang="ja-JP" sz="2000" b="0" i="0" dirty="0">
              <a:solidFill>
                <a:srgbClr val="333333"/>
              </a:solidFill>
              <a:effectLst/>
              <a:latin typeface="Helvetica Neue" panose="02000503000000020004" pitchFamily="2" charset="0"/>
            </a:endParaRPr>
          </a:p>
          <a:p>
            <a:pPr algn="l" fontAlgn="base">
              <a:lnSpc>
                <a:spcPct val="150000"/>
              </a:lnSpc>
            </a:pPr>
            <a:r>
              <a:rPr lang="en-US" altLang="ja-JP" sz="2000" dirty="0">
                <a:solidFill>
                  <a:srgbClr val="333333"/>
                </a:solidFill>
                <a:latin typeface="Helvetica Neue" panose="02000503000000020004" pitchFamily="2" charset="0"/>
              </a:rPr>
              <a:t>   </a:t>
            </a:r>
            <a:r>
              <a:rPr lang="ja-JP" altLang="en-US" sz="20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現職では主に</a:t>
            </a:r>
            <a:r>
              <a:rPr lang="en-US" altLang="ja-JP" sz="20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C#, Python</a:t>
            </a:r>
            <a:r>
              <a:rPr lang="ja-JP" altLang="en-US" sz="20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を用いて工場の生産管理システムの開発</a:t>
            </a:r>
            <a:r>
              <a:rPr lang="en-US" altLang="ja-JP" sz="20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(</a:t>
            </a:r>
            <a:r>
              <a:rPr lang="ja-JP" altLang="en-US" sz="20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サーバー・クライアント共</a:t>
            </a:r>
            <a:r>
              <a:rPr lang="en-US" altLang="ja-JP" sz="20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)</a:t>
            </a:r>
            <a:r>
              <a:rPr lang="ja-JP" altLang="en-US" sz="20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に約</a:t>
            </a:r>
            <a:r>
              <a:rPr lang="en-US" altLang="ja-JP" sz="20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10</a:t>
            </a:r>
            <a:r>
              <a:rPr lang="ja-JP" altLang="en-US" sz="20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年携わっております。</a:t>
            </a:r>
          </a:p>
        </p:txBody>
      </p:sp>
    </p:spTree>
    <p:extLst>
      <p:ext uri="{BB962C8B-B14F-4D97-AF65-F5344CB8AC3E}">
        <p14:creationId xmlns:p14="http://schemas.microsoft.com/office/powerpoint/2010/main" val="431159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四角形: 角を丸くする 35">
            <a:extLst>
              <a:ext uri="{FF2B5EF4-FFF2-40B4-BE49-F238E27FC236}">
                <a16:creationId xmlns:a16="http://schemas.microsoft.com/office/drawing/2014/main" id="{088AE261-0016-708A-0971-6D6F8FFD1EE4}"/>
              </a:ext>
            </a:extLst>
          </p:cNvPr>
          <p:cNvSpPr/>
          <p:nvPr/>
        </p:nvSpPr>
        <p:spPr>
          <a:xfrm>
            <a:off x="2502817" y="143462"/>
            <a:ext cx="8012772" cy="44173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0.  C#, 1. </a:t>
            </a:r>
            <a:r>
              <a:rPr lang="en" altLang="ja-JP" b="0" i="0" dirty="0">
                <a:solidFill>
                  <a:schemeClr val="tx1"/>
                </a:solidFill>
                <a:effectLst/>
                <a:latin typeface="Monaco" pitchFamily="2" charset="0"/>
              </a:rPr>
              <a:t>C# WINDOWS</a:t>
            </a:r>
            <a:r>
              <a:rPr lang="ja-JP" altLang="en-US" b="0" i="0">
                <a:solidFill>
                  <a:schemeClr val="tx1"/>
                </a:solidFill>
                <a:effectLst/>
                <a:latin typeface="Monaco" pitchFamily="2" charset="0"/>
              </a:rPr>
              <a:t>ネイティブアプリケーションの開発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EFF8AA1B-6C4B-4E38-FA9D-64B1CE80BE16}"/>
              </a:ext>
            </a:extLst>
          </p:cNvPr>
          <p:cNvGraphicFramePr>
            <a:graphicFrameLocks noGrp="1"/>
          </p:cNvGraphicFramePr>
          <p:nvPr/>
        </p:nvGraphicFramePr>
        <p:xfrm>
          <a:off x="800217" y="803232"/>
          <a:ext cx="10888921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3311">
                  <a:extLst>
                    <a:ext uri="{9D8B030D-6E8A-4147-A177-3AD203B41FA5}">
                      <a16:colId xmlns:a16="http://schemas.microsoft.com/office/drawing/2014/main" val="1051826531"/>
                    </a:ext>
                  </a:extLst>
                </a:gridCol>
                <a:gridCol w="6156251">
                  <a:extLst>
                    <a:ext uri="{9D8B030D-6E8A-4147-A177-3AD203B41FA5}">
                      <a16:colId xmlns:a16="http://schemas.microsoft.com/office/drawing/2014/main" val="976270873"/>
                    </a:ext>
                  </a:extLst>
                </a:gridCol>
                <a:gridCol w="2809359">
                  <a:extLst>
                    <a:ext uri="{9D8B030D-6E8A-4147-A177-3AD203B41FA5}">
                      <a16:colId xmlns:a16="http://schemas.microsoft.com/office/drawing/2014/main" val="41808039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b="0">
                          <a:solidFill>
                            <a:schemeClr val="tx1"/>
                          </a:solidFill>
                        </a:rPr>
                        <a:t>分類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b="0">
                          <a:solidFill>
                            <a:schemeClr val="tx1"/>
                          </a:solidFill>
                        </a:rPr>
                        <a:t>備考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4654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b="0">
                          <a:solidFill>
                            <a:schemeClr val="tx1"/>
                          </a:solidFill>
                        </a:rPr>
                        <a:t>入門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b="0">
                          <a:solidFill>
                            <a:schemeClr val="tx1"/>
                          </a:solidFill>
                        </a:rPr>
                        <a:t>ビルド環境</a:t>
                      </a:r>
                      <a:r>
                        <a:rPr kumimoji="1" lang="en-US" altLang="ja-JP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kumimoji="1" lang="ja-JP" altLang="en-US" b="0">
                          <a:solidFill>
                            <a:schemeClr val="tx1"/>
                          </a:solidFill>
                        </a:rPr>
                        <a:t>クラス基本</a:t>
                      </a:r>
                      <a:r>
                        <a:rPr kumimoji="1" lang="en-US" altLang="ja-JP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kumimoji="1" lang="ja-JP" altLang="en-US" b="0">
                          <a:solidFill>
                            <a:schemeClr val="tx1"/>
                          </a:solidFill>
                        </a:rPr>
                        <a:t>メソッド</a:t>
                      </a:r>
                      <a:r>
                        <a:rPr kumimoji="1" lang="en-US" altLang="ja-JP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kumimoji="1" lang="ja-JP" altLang="en-US" b="0">
                          <a:solidFill>
                            <a:schemeClr val="tx1"/>
                          </a:solidFill>
                        </a:rPr>
                        <a:t>条件分岐</a:t>
                      </a:r>
                      <a:r>
                        <a:rPr kumimoji="1" lang="en-US" altLang="ja-JP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kumimoji="1" lang="ja-JP" altLang="en-US" b="0">
                          <a:solidFill>
                            <a:schemeClr val="tx1"/>
                          </a:solidFill>
                        </a:rPr>
                        <a:t>繰り返し</a:t>
                      </a:r>
                      <a:endParaRPr kumimoji="1" lang="en-US" altLang="ja-JP" b="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kumimoji="1" lang="ja-JP" altLang="en-US" b="0">
                          <a:solidFill>
                            <a:schemeClr val="tx1"/>
                          </a:solidFill>
                        </a:rPr>
                        <a:t>コレクション</a:t>
                      </a:r>
                      <a:r>
                        <a:rPr kumimoji="1" lang="en-US" altLang="ja-JP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kumimoji="1" lang="ja-JP" altLang="en-US" b="0">
                          <a:solidFill>
                            <a:schemeClr val="tx1"/>
                          </a:solidFill>
                        </a:rPr>
                        <a:t>スコープ</a:t>
                      </a:r>
                      <a:r>
                        <a:rPr kumimoji="1" lang="en-US" altLang="ja-JP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kumimoji="1" lang="ja-JP" altLang="en-US" b="0">
                          <a:solidFill>
                            <a:schemeClr val="tx1"/>
                          </a:solidFill>
                        </a:rPr>
                        <a:t>名前空間</a:t>
                      </a:r>
                      <a:r>
                        <a:rPr kumimoji="1" lang="en-US" altLang="ja-JP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kumimoji="1" lang="ja-JP" altLang="en-US" b="0">
                          <a:solidFill>
                            <a:schemeClr val="tx1"/>
                          </a:solidFill>
                        </a:rPr>
                        <a:t>例外処理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1912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b="0">
                          <a:solidFill>
                            <a:schemeClr val="tx1"/>
                          </a:solidFill>
                        </a:rPr>
                        <a:t>基礎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b="0" dirty="0">
                          <a:solidFill>
                            <a:schemeClr val="tx1"/>
                          </a:solidFill>
                        </a:rPr>
                        <a:t>DLL</a:t>
                      </a:r>
                      <a:r>
                        <a:rPr kumimoji="1" lang="ja-JP" altLang="en-US" b="0">
                          <a:solidFill>
                            <a:schemeClr val="tx1"/>
                          </a:solidFill>
                        </a:rPr>
                        <a:t>分割</a:t>
                      </a:r>
                      <a:r>
                        <a:rPr kumimoji="1" lang="en-US" altLang="ja-JP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kumimoji="1" lang="ja-JP" altLang="en-US" b="0">
                          <a:solidFill>
                            <a:schemeClr val="tx1"/>
                          </a:solidFill>
                        </a:rPr>
                        <a:t>継承</a:t>
                      </a:r>
                      <a:r>
                        <a:rPr kumimoji="1" lang="en-US" altLang="ja-JP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kumimoji="1" lang="ja-JP" altLang="en-US" b="0">
                          <a:solidFill>
                            <a:schemeClr val="tx1"/>
                          </a:solidFill>
                        </a:rPr>
                        <a:t>インターフェース</a:t>
                      </a:r>
                      <a:r>
                        <a:rPr kumimoji="1" lang="en-US" altLang="ja-JP" b="0" dirty="0">
                          <a:solidFill>
                            <a:schemeClr val="tx1"/>
                          </a:solidFill>
                        </a:rPr>
                        <a:t>, LINQ, </a:t>
                      </a:r>
                      <a:r>
                        <a:rPr kumimoji="1" lang="ja-JP" altLang="en-US" b="0">
                          <a:solidFill>
                            <a:schemeClr val="tx1"/>
                          </a:solidFill>
                        </a:rPr>
                        <a:t>ラムダ式</a:t>
                      </a:r>
                      <a:r>
                        <a:rPr kumimoji="1" lang="en-US" altLang="ja-JP" b="0" dirty="0">
                          <a:solidFill>
                            <a:schemeClr val="tx1"/>
                          </a:solidFill>
                        </a:rPr>
                        <a:t>, </a:t>
                      </a:r>
                    </a:p>
                    <a:p>
                      <a:r>
                        <a:rPr kumimoji="1" lang="ja-JP" altLang="en-US" b="0">
                          <a:solidFill>
                            <a:schemeClr val="tx1"/>
                          </a:solidFill>
                        </a:rPr>
                        <a:t>非同期処理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01748"/>
                  </a:ext>
                </a:extLst>
              </a:tr>
            </a:tbl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B3721DBC-F42B-E24C-EC84-5A811969E7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598" y="2828677"/>
            <a:ext cx="1808892" cy="2334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42E7695-CA8B-12DD-8F3E-D31DC35F5D56}"/>
              </a:ext>
            </a:extLst>
          </p:cNvPr>
          <p:cNvSpPr txBox="1"/>
          <p:nvPr/>
        </p:nvSpPr>
        <p:spPr>
          <a:xfrm>
            <a:off x="146906" y="5358285"/>
            <a:ext cx="6097772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/>
              <a:t>https://www.amazon.co.jp/dp/4798068330/ref=sspa_dk_detail_4?psc=1&amp;pd_rd_i=4798068330&amp;pd_rd_w=ImyoR&amp;content-id=amzn1.sym.f293be60-50b7-49bc-95e8-931faf86ed1e&amp;pf_rd_p=f293be60-50b7-49bc-95e8-931faf86ed1e&amp;pf_rd_r=M4E58164FK419A1HWX07&amp;pd_rd_wg=Voomt&amp;pd_rd_r=407ab2f4-2efc-429e-822b-54b79e44e096&amp;s=books&amp;sp_csd=d2lkZ2V0TmFtZT1zcF9kZXRhaWw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2E455BBE-3C6F-2F94-63A9-10B4271681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0369" y="2828677"/>
            <a:ext cx="1808891" cy="2285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0D14CFE-DABF-6502-DC86-B555BC47F15B}"/>
              </a:ext>
            </a:extLst>
          </p:cNvPr>
          <p:cNvSpPr txBox="1"/>
          <p:nvPr/>
        </p:nvSpPr>
        <p:spPr>
          <a:xfrm>
            <a:off x="6464595" y="5348446"/>
            <a:ext cx="518709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800"/>
              <a:t>https://www.amazon.co.jp/%E7%8B%AC%E7%BF%92C-%E7%AC%AC5%E7%89%88-%E5%B1%B1%E7%94%B0-%E7%A5%A5%E5%AF%9B/dp/4798175560/ref=sr_1_1?__mk_ja_JP=%E3%82%AB%E3%82%BF%E3%82%AB%E3%83%8A&amp;crid=14SDVRZ44VTI1&amp;dib=eyJ2IjoiMSJ9.KLbcJQ5w4wKhILB0rzBvvtrszgirFMhCQFwsUVfkqq2q27CnI86VQLzdjSvJJUboTUNApn87RRsDeNs9hLegTrvLp1UInRv-XkhawVatQcojKTuk4Bpt3nnFbKFP16gGhKqW22PNdCaho03szgHJI5GkSGrb8kCsPeoUjVJ2vGjE_8i5fmHH7M69V4TVztXH_VmZbv00KeiNdFtOL-tejti5X8VlVAS_YupsmX_Y8bSRdJ_80leDSFUHpwaFTlfvvhihDRHuVuNhs5O0chSLwh07v8Iysch4pF65BYVKzKU.crq0fsCfNRZJPuzvPtyRHlO3S8-BZyqkvzI6UIyMgXs&amp;dib_tag=se&amp;keywords=C%23+%E7%8B%AC%E7%BF%92&amp;qid=1726448554&amp;sprefix=c+%E7%8B%AC%E7%BF%92%2Caps%2C212&amp;sr=8-1</a:t>
            </a:r>
          </a:p>
        </p:txBody>
      </p:sp>
    </p:spTree>
    <p:extLst>
      <p:ext uri="{BB962C8B-B14F-4D97-AF65-F5344CB8AC3E}">
        <p14:creationId xmlns:p14="http://schemas.microsoft.com/office/powerpoint/2010/main" val="958351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四角形: 角を丸くする 35">
            <a:extLst>
              <a:ext uri="{FF2B5EF4-FFF2-40B4-BE49-F238E27FC236}">
                <a16:creationId xmlns:a16="http://schemas.microsoft.com/office/drawing/2014/main" id="{575A2AAD-12FB-70D7-D54A-FCA16485FDD5}"/>
              </a:ext>
            </a:extLst>
          </p:cNvPr>
          <p:cNvSpPr/>
          <p:nvPr/>
        </p:nvSpPr>
        <p:spPr>
          <a:xfrm>
            <a:off x="3800738" y="143462"/>
            <a:ext cx="4590524" cy="44173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プログラミングに必要な数学・英語知識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D1871C1-6D20-C138-B67D-67C074B90265}"/>
              </a:ext>
            </a:extLst>
          </p:cNvPr>
          <p:cNvSpPr txBox="1"/>
          <p:nvPr/>
        </p:nvSpPr>
        <p:spPr>
          <a:xfrm>
            <a:off x="526792" y="1175835"/>
            <a:ext cx="5289201" cy="535531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ja-JP" altLang="en-US" dirty="0"/>
              <a:t>１．中学数学の復習</a:t>
            </a:r>
          </a:p>
          <a:p>
            <a:r>
              <a:rPr lang="ja-JP" altLang="en-US" dirty="0"/>
              <a:t>　正負・分数・文字式</a:t>
            </a:r>
          </a:p>
          <a:p>
            <a:r>
              <a:rPr lang="ja-JP" altLang="en-US" dirty="0"/>
              <a:t>　一次方程式</a:t>
            </a:r>
          </a:p>
          <a:p>
            <a:r>
              <a:rPr lang="ja-JP" altLang="en-US" dirty="0"/>
              <a:t>　比例・一次関数</a:t>
            </a:r>
          </a:p>
          <a:p>
            <a:r>
              <a:rPr lang="ja-JP" altLang="en-US" dirty="0"/>
              <a:t>　座標・簡単な図形</a:t>
            </a:r>
          </a:p>
          <a:p>
            <a:endParaRPr lang="en-US" altLang="ja-JP" dirty="0"/>
          </a:p>
          <a:p>
            <a:r>
              <a:rPr lang="ja-JP" altLang="en-US" dirty="0"/>
              <a:t>２．高校数学</a:t>
            </a:r>
            <a:r>
              <a:rPr lang="en-US" altLang="ja-JP" dirty="0"/>
              <a:t>I</a:t>
            </a:r>
            <a:r>
              <a:rPr lang="ja-JP" altLang="en-US" dirty="0"/>
              <a:t>レベル</a:t>
            </a:r>
          </a:p>
          <a:p>
            <a:r>
              <a:rPr lang="ja-JP" altLang="en-US" dirty="0"/>
              <a:t>　二次関数・二次方程式</a:t>
            </a:r>
          </a:p>
          <a:p>
            <a:r>
              <a:rPr lang="ja-JP" altLang="en-US" dirty="0"/>
              <a:t>　三角比・三角関数の基礎（</a:t>
            </a:r>
            <a:r>
              <a:rPr lang="en-US" altLang="ja-JP" dirty="0"/>
              <a:t>sin, cos</a:t>
            </a:r>
            <a:r>
              <a:rPr lang="ja-JP" altLang="en-US" dirty="0"/>
              <a:t>）</a:t>
            </a:r>
          </a:p>
          <a:p>
            <a:r>
              <a:rPr lang="ja-JP" altLang="en-US" dirty="0"/>
              <a:t>　指数・対数</a:t>
            </a:r>
          </a:p>
          <a:p>
            <a:endParaRPr lang="en-US" altLang="ja-JP" dirty="0"/>
          </a:p>
          <a:p>
            <a:r>
              <a:rPr lang="ja-JP" altLang="en-US" dirty="0"/>
              <a:t>３．高校数学</a:t>
            </a:r>
            <a:r>
              <a:rPr lang="en-US" altLang="ja-JP" dirty="0"/>
              <a:t>A</a:t>
            </a:r>
            <a:r>
              <a:rPr lang="ja-JP" altLang="en-US" dirty="0"/>
              <a:t>レベル</a:t>
            </a:r>
          </a:p>
          <a:p>
            <a:r>
              <a:rPr lang="ja-JP" altLang="en-US" dirty="0"/>
              <a:t>　確率の基礎</a:t>
            </a:r>
          </a:p>
          <a:p>
            <a:r>
              <a:rPr lang="ja-JP" altLang="en-US" dirty="0"/>
              <a:t>　簡単な数列</a:t>
            </a:r>
          </a:p>
          <a:p>
            <a:endParaRPr lang="en-US" altLang="ja-JP" dirty="0"/>
          </a:p>
          <a:p>
            <a:r>
              <a:rPr lang="ja-JP" altLang="en-US" dirty="0"/>
              <a:t>４．情報関連</a:t>
            </a:r>
          </a:p>
          <a:p>
            <a:r>
              <a:rPr lang="ja-JP" altLang="en-US" dirty="0"/>
              <a:t>　集合・論理</a:t>
            </a:r>
          </a:p>
          <a:p>
            <a:r>
              <a:rPr lang="ja-JP" altLang="en-US" dirty="0"/>
              <a:t>　</a:t>
            </a:r>
            <a:r>
              <a:rPr lang="en-US" altLang="ja-JP" dirty="0"/>
              <a:t>2</a:t>
            </a:r>
            <a:r>
              <a:rPr lang="ja-JP" altLang="en-US" dirty="0"/>
              <a:t>進数</a:t>
            </a:r>
            <a:r>
              <a:rPr lang="en-US" altLang="ja-JP" dirty="0"/>
              <a:t>, 16</a:t>
            </a:r>
            <a:r>
              <a:rPr lang="ja-JP" altLang="en-US" dirty="0"/>
              <a:t>進数・ビット演算</a:t>
            </a:r>
            <a:r>
              <a:rPr lang="en-US" altLang="ja-JP" dirty="0"/>
              <a:t>[AND OR XOR]</a:t>
            </a:r>
          </a:p>
          <a:p>
            <a:r>
              <a:rPr lang="en-US" altLang="ja-JP" dirty="0"/>
              <a:t>   </a:t>
            </a:r>
            <a:r>
              <a:rPr lang="ja-JP" altLang="en-US" dirty="0"/>
              <a:t>簡単なアルゴリズム（検索）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E9C97CD-2290-1472-542C-E635C3CD55BD}"/>
              </a:ext>
            </a:extLst>
          </p:cNvPr>
          <p:cNvSpPr txBox="1"/>
          <p:nvPr/>
        </p:nvSpPr>
        <p:spPr>
          <a:xfrm>
            <a:off x="270428" y="739187"/>
            <a:ext cx="788213" cy="33855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6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数学</a:t>
            </a:r>
          </a:p>
        </p:txBody>
      </p:sp>
    </p:spTree>
    <p:extLst>
      <p:ext uri="{BB962C8B-B14F-4D97-AF65-F5344CB8AC3E}">
        <p14:creationId xmlns:p14="http://schemas.microsoft.com/office/powerpoint/2010/main" val="6096850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433</Words>
  <Application>Microsoft Office PowerPoint</Application>
  <PresentationFormat>ワイド画面</PresentationFormat>
  <Paragraphs>38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9" baseType="lpstr">
      <vt:lpstr>Helvetica Neue</vt:lpstr>
      <vt:lpstr>Monaco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SAKAMOTO Takayuki 坂本 隆幸</dc:creator>
  <cp:lastModifiedBy>SAKAMOTO Takayuki 坂本 隆幸</cp:lastModifiedBy>
  <cp:revision>12</cp:revision>
  <dcterms:created xsi:type="dcterms:W3CDTF">2026-02-12T04:59:57Z</dcterms:created>
  <dcterms:modified xsi:type="dcterms:W3CDTF">2026-02-12T05:36:30Z</dcterms:modified>
</cp:coreProperties>
</file>
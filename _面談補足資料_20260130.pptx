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2"/>
    <p:sldId id="256" r:id="rId3"/>
    <p:sldId id="257" r:id="rId4"/>
    <p:sldId id="266" r:id="rId5"/>
    <p:sldId id="267" r:id="rId6"/>
    <p:sldId id="268" r:id="rId7"/>
    <p:sldId id="269"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51" autoAdjust="0"/>
    <p:restoredTop sz="94658"/>
  </p:normalViewPr>
  <p:slideViewPr>
    <p:cSldViewPr snapToGrid="0">
      <p:cViewPr varScale="1">
        <p:scale>
          <a:sx n="109" d="100"/>
          <a:sy n="109" d="100"/>
        </p:scale>
        <p:origin x="328" y="8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1DA453-D682-C151-F62B-B215EB5A85D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C14D088-B1EE-0CBC-D7E4-7FCF613520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4789AD2-E6E7-3409-DCA4-0FAECB93E61F}"/>
              </a:ext>
            </a:extLst>
          </p:cNvPr>
          <p:cNvSpPr>
            <a:spLocks noGrp="1"/>
          </p:cNvSpPr>
          <p:nvPr>
            <p:ph type="dt" sz="half" idx="10"/>
          </p:nvPr>
        </p:nvSpPr>
        <p:spPr/>
        <p:txBody>
          <a:bodyPr/>
          <a:lstStyle/>
          <a:p>
            <a:fld id="{9995C8D4-CBAD-C343-982B-B13CDFD32324}" type="datetimeFigureOut">
              <a:rPr kumimoji="1" lang="ja-JP" altLang="en-US" smtClean="0"/>
              <a:t>2026/1/30</a:t>
            </a:fld>
            <a:endParaRPr kumimoji="1" lang="ja-JP" altLang="en-US"/>
          </a:p>
        </p:txBody>
      </p:sp>
      <p:sp>
        <p:nvSpPr>
          <p:cNvPr id="5" name="フッター プレースホルダー 4">
            <a:extLst>
              <a:ext uri="{FF2B5EF4-FFF2-40B4-BE49-F238E27FC236}">
                <a16:creationId xmlns:a16="http://schemas.microsoft.com/office/drawing/2014/main" id="{79104A8B-568B-4DF9-DA60-DA72A879728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B660E9E-BE34-1F8B-69BF-596860289FDC}"/>
              </a:ext>
            </a:extLst>
          </p:cNvPr>
          <p:cNvSpPr>
            <a:spLocks noGrp="1"/>
          </p:cNvSpPr>
          <p:nvPr>
            <p:ph type="sldNum" sz="quarter" idx="12"/>
          </p:nvPr>
        </p:nvSpPr>
        <p:spPr/>
        <p:txBody>
          <a:bodyPr/>
          <a:lstStyle/>
          <a:p>
            <a:fld id="{F56E3B0B-C032-4446-A23B-EB00B90E1D85}" type="slidenum">
              <a:rPr kumimoji="1" lang="ja-JP" altLang="en-US" smtClean="0"/>
              <a:t>‹#›</a:t>
            </a:fld>
            <a:endParaRPr kumimoji="1" lang="ja-JP" altLang="en-US"/>
          </a:p>
        </p:txBody>
      </p:sp>
    </p:spTree>
    <p:extLst>
      <p:ext uri="{BB962C8B-B14F-4D97-AF65-F5344CB8AC3E}">
        <p14:creationId xmlns:p14="http://schemas.microsoft.com/office/powerpoint/2010/main" val="4265837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399325-961F-7A92-B988-469E7CC5B3D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8D2716B-4BDA-B196-C440-E4287080EBA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4D7A1A6-6771-9515-0821-48D6F4445615}"/>
              </a:ext>
            </a:extLst>
          </p:cNvPr>
          <p:cNvSpPr>
            <a:spLocks noGrp="1"/>
          </p:cNvSpPr>
          <p:nvPr>
            <p:ph type="dt" sz="half" idx="10"/>
          </p:nvPr>
        </p:nvSpPr>
        <p:spPr/>
        <p:txBody>
          <a:bodyPr/>
          <a:lstStyle/>
          <a:p>
            <a:fld id="{9995C8D4-CBAD-C343-982B-B13CDFD32324}" type="datetimeFigureOut">
              <a:rPr kumimoji="1" lang="ja-JP" altLang="en-US" smtClean="0"/>
              <a:t>2026/1/30</a:t>
            </a:fld>
            <a:endParaRPr kumimoji="1" lang="ja-JP" altLang="en-US"/>
          </a:p>
        </p:txBody>
      </p:sp>
      <p:sp>
        <p:nvSpPr>
          <p:cNvPr id="5" name="フッター プレースホルダー 4">
            <a:extLst>
              <a:ext uri="{FF2B5EF4-FFF2-40B4-BE49-F238E27FC236}">
                <a16:creationId xmlns:a16="http://schemas.microsoft.com/office/drawing/2014/main" id="{26065A09-CAE9-90E8-C200-2479C23D3B5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5B7123E-B3E0-3FF6-D30F-FF13F344C617}"/>
              </a:ext>
            </a:extLst>
          </p:cNvPr>
          <p:cNvSpPr>
            <a:spLocks noGrp="1"/>
          </p:cNvSpPr>
          <p:nvPr>
            <p:ph type="sldNum" sz="quarter" idx="12"/>
          </p:nvPr>
        </p:nvSpPr>
        <p:spPr/>
        <p:txBody>
          <a:bodyPr/>
          <a:lstStyle/>
          <a:p>
            <a:fld id="{F56E3B0B-C032-4446-A23B-EB00B90E1D85}" type="slidenum">
              <a:rPr kumimoji="1" lang="ja-JP" altLang="en-US" smtClean="0"/>
              <a:t>‹#›</a:t>
            </a:fld>
            <a:endParaRPr kumimoji="1" lang="ja-JP" altLang="en-US"/>
          </a:p>
        </p:txBody>
      </p:sp>
    </p:spTree>
    <p:extLst>
      <p:ext uri="{BB962C8B-B14F-4D97-AF65-F5344CB8AC3E}">
        <p14:creationId xmlns:p14="http://schemas.microsoft.com/office/powerpoint/2010/main" val="2852114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DBBBEF-5069-158C-D17C-4F0872B9285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AABF153-6465-4260-A1D7-60DD871CE2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BC36A6F-64C0-E82C-AF68-99B79C488E02}"/>
              </a:ext>
            </a:extLst>
          </p:cNvPr>
          <p:cNvSpPr>
            <a:spLocks noGrp="1"/>
          </p:cNvSpPr>
          <p:nvPr>
            <p:ph type="dt" sz="half" idx="10"/>
          </p:nvPr>
        </p:nvSpPr>
        <p:spPr/>
        <p:txBody>
          <a:bodyPr/>
          <a:lstStyle/>
          <a:p>
            <a:fld id="{9995C8D4-CBAD-C343-982B-B13CDFD32324}" type="datetimeFigureOut">
              <a:rPr kumimoji="1" lang="ja-JP" altLang="en-US" smtClean="0"/>
              <a:t>2026/1/30</a:t>
            </a:fld>
            <a:endParaRPr kumimoji="1" lang="ja-JP" altLang="en-US"/>
          </a:p>
        </p:txBody>
      </p:sp>
      <p:sp>
        <p:nvSpPr>
          <p:cNvPr id="5" name="フッター プレースホルダー 4">
            <a:extLst>
              <a:ext uri="{FF2B5EF4-FFF2-40B4-BE49-F238E27FC236}">
                <a16:creationId xmlns:a16="http://schemas.microsoft.com/office/drawing/2014/main" id="{FD788775-23DB-A4EA-626D-1940F525F4C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BD1B93-A3F1-AAC2-8158-08F526A3CFF8}"/>
              </a:ext>
            </a:extLst>
          </p:cNvPr>
          <p:cNvSpPr>
            <a:spLocks noGrp="1"/>
          </p:cNvSpPr>
          <p:nvPr>
            <p:ph type="sldNum" sz="quarter" idx="12"/>
          </p:nvPr>
        </p:nvSpPr>
        <p:spPr/>
        <p:txBody>
          <a:bodyPr/>
          <a:lstStyle/>
          <a:p>
            <a:fld id="{F56E3B0B-C032-4446-A23B-EB00B90E1D85}" type="slidenum">
              <a:rPr kumimoji="1" lang="ja-JP" altLang="en-US" smtClean="0"/>
              <a:t>‹#›</a:t>
            </a:fld>
            <a:endParaRPr kumimoji="1" lang="ja-JP" altLang="en-US"/>
          </a:p>
        </p:txBody>
      </p:sp>
    </p:spTree>
    <p:extLst>
      <p:ext uri="{BB962C8B-B14F-4D97-AF65-F5344CB8AC3E}">
        <p14:creationId xmlns:p14="http://schemas.microsoft.com/office/powerpoint/2010/main" val="1076430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6F0B30-8238-46F2-DC1D-F2A481890BA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EC6A18A-27F4-4416-FCED-5B10C9BEA8F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5100B0F-5E79-A90C-07C2-24FBE6A6C37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F544A91-3FD9-F475-DC69-219A1BFD6768}"/>
              </a:ext>
            </a:extLst>
          </p:cNvPr>
          <p:cNvSpPr>
            <a:spLocks noGrp="1"/>
          </p:cNvSpPr>
          <p:nvPr>
            <p:ph type="dt" sz="half" idx="10"/>
          </p:nvPr>
        </p:nvSpPr>
        <p:spPr/>
        <p:txBody>
          <a:bodyPr/>
          <a:lstStyle/>
          <a:p>
            <a:fld id="{9995C8D4-CBAD-C343-982B-B13CDFD32324}" type="datetimeFigureOut">
              <a:rPr kumimoji="1" lang="ja-JP" altLang="en-US" smtClean="0"/>
              <a:t>2026/1/30</a:t>
            </a:fld>
            <a:endParaRPr kumimoji="1" lang="ja-JP" altLang="en-US"/>
          </a:p>
        </p:txBody>
      </p:sp>
      <p:sp>
        <p:nvSpPr>
          <p:cNvPr id="6" name="フッター プレースホルダー 5">
            <a:extLst>
              <a:ext uri="{FF2B5EF4-FFF2-40B4-BE49-F238E27FC236}">
                <a16:creationId xmlns:a16="http://schemas.microsoft.com/office/drawing/2014/main" id="{353ED5B0-42B8-E4DD-B8A5-33C29295809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86876E4-BC1E-8117-68B2-40DC768FB33C}"/>
              </a:ext>
            </a:extLst>
          </p:cNvPr>
          <p:cNvSpPr>
            <a:spLocks noGrp="1"/>
          </p:cNvSpPr>
          <p:nvPr>
            <p:ph type="sldNum" sz="quarter" idx="12"/>
          </p:nvPr>
        </p:nvSpPr>
        <p:spPr/>
        <p:txBody>
          <a:bodyPr/>
          <a:lstStyle/>
          <a:p>
            <a:fld id="{F56E3B0B-C032-4446-A23B-EB00B90E1D85}" type="slidenum">
              <a:rPr kumimoji="1" lang="ja-JP" altLang="en-US" smtClean="0"/>
              <a:t>‹#›</a:t>
            </a:fld>
            <a:endParaRPr kumimoji="1" lang="ja-JP" altLang="en-US"/>
          </a:p>
        </p:txBody>
      </p:sp>
    </p:spTree>
    <p:extLst>
      <p:ext uri="{BB962C8B-B14F-4D97-AF65-F5344CB8AC3E}">
        <p14:creationId xmlns:p14="http://schemas.microsoft.com/office/powerpoint/2010/main" val="4025977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87ED8C-46A2-AA99-CBBE-CBC7F6EC86A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2AF126E-FB32-57E9-D197-03BBCE912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DFC5B1A-8721-E197-1924-70C55AF9C11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3C016FD-C3DE-924D-D5FC-B9FEF773DC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5BCC380-B23D-B78E-605C-BC28B3D10B6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BC433BEB-B2DF-0524-ACFC-87CD1730DFC4}"/>
              </a:ext>
            </a:extLst>
          </p:cNvPr>
          <p:cNvSpPr>
            <a:spLocks noGrp="1"/>
          </p:cNvSpPr>
          <p:nvPr>
            <p:ph type="dt" sz="half" idx="10"/>
          </p:nvPr>
        </p:nvSpPr>
        <p:spPr/>
        <p:txBody>
          <a:bodyPr/>
          <a:lstStyle/>
          <a:p>
            <a:fld id="{9995C8D4-CBAD-C343-982B-B13CDFD32324}" type="datetimeFigureOut">
              <a:rPr kumimoji="1" lang="ja-JP" altLang="en-US" smtClean="0"/>
              <a:t>2026/1/30</a:t>
            </a:fld>
            <a:endParaRPr kumimoji="1" lang="ja-JP" altLang="en-US"/>
          </a:p>
        </p:txBody>
      </p:sp>
      <p:sp>
        <p:nvSpPr>
          <p:cNvPr id="8" name="フッター プレースホルダー 7">
            <a:extLst>
              <a:ext uri="{FF2B5EF4-FFF2-40B4-BE49-F238E27FC236}">
                <a16:creationId xmlns:a16="http://schemas.microsoft.com/office/drawing/2014/main" id="{C54F3DE3-E851-1D13-3448-9AA99699929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2FED5CA-7077-5196-C949-9465D3CCD1CA}"/>
              </a:ext>
            </a:extLst>
          </p:cNvPr>
          <p:cNvSpPr>
            <a:spLocks noGrp="1"/>
          </p:cNvSpPr>
          <p:nvPr>
            <p:ph type="sldNum" sz="quarter" idx="12"/>
          </p:nvPr>
        </p:nvSpPr>
        <p:spPr/>
        <p:txBody>
          <a:bodyPr/>
          <a:lstStyle/>
          <a:p>
            <a:fld id="{F56E3B0B-C032-4446-A23B-EB00B90E1D85}" type="slidenum">
              <a:rPr kumimoji="1" lang="ja-JP" altLang="en-US" smtClean="0"/>
              <a:t>‹#›</a:t>
            </a:fld>
            <a:endParaRPr kumimoji="1" lang="ja-JP" altLang="en-US"/>
          </a:p>
        </p:txBody>
      </p:sp>
    </p:spTree>
    <p:extLst>
      <p:ext uri="{BB962C8B-B14F-4D97-AF65-F5344CB8AC3E}">
        <p14:creationId xmlns:p14="http://schemas.microsoft.com/office/powerpoint/2010/main" val="1958407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43CD65-2CD6-75D9-F3EC-41661932820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9D4441C-5386-47EC-0C7D-D9E2D0A846FF}"/>
              </a:ext>
            </a:extLst>
          </p:cNvPr>
          <p:cNvSpPr>
            <a:spLocks noGrp="1"/>
          </p:cNvSpPr>
          <p:nvPr>
            <p:ph type="dt" sz="half" idx="10"/>
          </p:nvPr>
        </p:nvSpPr>
        <p:spPr/>
        <p:txBody>
          <a:bodyPr/>
          <a:lstStyle/>
          <a:p>
            <a:fld id="{9995C8D4-CBAD-C343-982B-B13CDFD32324}" type="datetimeFigureOut">
              <a:rPr kumimoji="1" lang="ja-JP" altLang="en-US" smtClean="0"/>
              <a:t>2026/1/30</a:t>
            </a:fld>
            <a:endParaRPr kumimoji="1" lang="ja-JP" altLang="en-US"/>
          </a:p>
        </p:txBody>
      </p:sp>
      <p:sp>
        <p:nvSpPr>
          <p:cNvPr id="4" name="フッター プレースホルダー 3">
            <a:extLst>
              <a:ext uri="{FF2B5EF4-FFF2-40B4-BE49-F238E27FC236}">
                <a16:creationId xmlns:a16="http://schemas.microsoft.com/office/drawing/2014/main" id="{E5A175D1-76E6-877E-8C7D-EA88E8B8C08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3456F40-E7CE-37DA-EE30-17E019B779C7}"/>
              </a:ext>
            </a:extLst>
          </p:cNvPr>
          <p:cNvSpPr>
            <a:spLocks noGrp="1"/>
          </p:cNvSpPr>
          <p:nvPr>
            <p:ph type="sldNum" sz="quarter" idx="12"/>
          </p:nvPr>
        </p:nvSpPr>
        <p:spPr/>
        <p:txBody>
          <a:bodyPr/>
          <a:lstStyle/>
          <a:p>
            <a:fld id="{F56E3B0B-C032-4446-A23B-EB00B90E1D85}" type="slidenum">
              <a:rPr kumimoji="1" lang="ja-JP" altLang="en-US" smtClean="0"/>
              <a:t>‹#›</a:t>
            </a:fld>
            <a:endParaRPr kumimoji="1" lang="ja-JP" altLang="en-US"/>
          </a:p>
        </p:txBody>
      </p:sp>
    </p:spTree>
    <p:extLst>
      <p:ext uri="{BB962C8B-B14F-4D97-AF65-F5344CB8AC3E}">
        <p14:creationId xmlns:p14="http://schemas.microsoft.com/office/powerpoint/2010/main" val="2390062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7E659C7-B851-CD40-1E6E-315B844A6E9E}"/>
              </a:ext>
            </a:extLst>
          </p:cNvPr>
          <p:cNvSpPr>
            <a:spLocks noGrp="1"/>
          </p:cNvSpPr>
          <p:nvPr>
            <p:ph type="dt" sz="half" idx="10"/>
          </p:nvPr>
        </p:nvSpPr>
        <p:spPr/>
        <p:txBody>
          <a:bodyPr/>
          <a:lstStyle/>
          <a:p>
            <a:fld id="{9995C8D4-CBAD-C343-982B-B13CDFD32324}" type="datetimeFigureOut">
              <a:rPr kumimoji="1" lang="ja-JP" altLang="en-US" smtClean="0"/>
              <a:t>2026/1/30</a:t>
            </a:fld>
            <a:endParaRPr kumimoji="1" lang="ja-JP" altLang="en-US"/>
          </a:p>
        </p:txBody>
      </p:sp>
      <p:sp>
        <p:nvSpPr>
          <p:cNvPr id="3" name="フッター プレースホルダー 2">
            <a:extLst>
              <a:ext uri="{FF2B5EF4-FFF2-40B4-BE49-F238E27FC236}">
                <a16:creationId xmlns:a16="http://schemas.microsoft.com/office/drawing/2014/main" id="{77CCC153-EC58-6566-9211-EABE540A0F9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3A7D0EC-8AFE-6347-4C9E-F0D84F6D1946}"/>
              </a:ext>
            </a:extLst>
          </p:cNvPr>
          <p:cNvSpPr>
            <a:spLocks noGrp="1"/>
          </p:cNvSpPr>
          <p:nvPr>
            <p:ph type="sldNum" sz="quarter" idx="12"/>
          </p:nvPr>
        </p:nvSpPr>
        <p:spPr/>
        <p:txBody>
          <a:bodyPr/>
          <a:lstStyle/>
          <a:p>
            <a:fld id="{F56E3B0B-C032-4446-A23B-EB00B90E1D85}" type="slidenum">
              <a:rPr kumimoji="1" lang="ja-JP" altLang="en-US" smtClean="0"/>
              <a:t>‹#›</a:t>
            </a:fld>
            <a:endParaRPr kumimoji="1" lang="ja-JP" altLang="en-US"/>
          </a:p>
        </p:txBody>
      </p:sp>
    </p:spTree>
    <p:extLst>
      <p:ext uri="{BB962C8B-B14F-4D97-AF65-F5344CB8AC3E}">
        <p14:creationId xmlns:p14="http://schemas.microsoft.com/office/powerpoint/2010/main" val="3137495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8FFBDE-983F-4BEC-96CD-1CC858A8F0E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A2311A1-BCCE-D663-115B-6567227EF7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65E4096-06EC-4B21-E6BC-4EDB0F509B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7C8543E-0754-064E-2279-8479976593FC}"/>
              </a:ext>
            </a:extLst>
          </p:cNvPr>
          <p:cNvSpPr>
            <a:spLocks noGrp="1"/>
          </p:cNvSpPr>
          <p:nvPr>
            <p:ph type="dt" sz="half" idx="10"/>
          </p:nvPr>
        </p:nvSpPr>
        <p:spPr/>
        <p:txBody>
          <a:bodyPr/>
          <a:lstStyle/>
          <a:p>
            <a:fld id="{9995C8D4-CBAD-C343-982B-B13CDFD32324}" type="datetimeFigureOut">
              <a:rPr kumimoji="1" lang="ja-JP" altLang="en-US" smtClean="0"/>
              <a:t>2026/1/30</a:t>
            </a:fld>
            <a:endParaRPr kumimoji="1" lang="ja-JP" altLang="en-US"/>
          </a:p>
        </p:txBody>
      </p:sp>
      <p:sp>
        <p:nvSpPr>
          <p:cNvPr id="6" name="フッター プレースホルダー 5">
            <a:extLst>
              <a:ext uri="{FF2B5EF4-FFF2-40B4-BE49-F238E27FC236}">
                <a16:creationId xmlns:a16="http://schemas.microsoft.com/office/drawing/2014/main" id="{C538D376-82C5-716B-D509-25EBA2C59BE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3197625-78C3-DA7F-FFC7-2F18D306DD47}"/>
              </a:ext>
            </a:extLst>
          </p:cNvPr>
          <p:cNvSpPr>
            <a:spLocks noGrp="1"/>
          </p:cNvSpPr>
          <p:nvPr>
            <p:ph type="sldNum" sz="quarter" idx="12"/>
          </p:nvPr>
        </p:nvSpPr>
        <p:spPr/>
        <p:txBody>
          <a:bodyPr/>
          <a:lstStyle/>
          <a:p>
            <a:fld id="{F56E3B0B-C032-4446-A23B-EB00B90E1D85}" type="slidenum">
              <a:rPr kumimoji="1" lang="ja-JP" altLang="en-US" smtClean="0"/>
              <a:t>‹#›</a:t>
            </a:fld>
            <a:endParaRPr kumimoji="1" lang="ja-JP" altLang="en-US"/>
          </a:p>
        </p:txBody>
      </p:sp>
    </p:spTree>
    <p:extLst>
      <p:ext uri="{BB962C8B-B14F-4D97-AF65-F5344CB8AC3E}">
        <p14:creationId xmlns:p14="http://schemas.microsoft.com/office/powerpoint/2010/main" val="2113379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E54816-F9F1-1BB0-1CF3-CCC0265C372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064D529-6538-8AC9-5300-3C3EE04374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8CA3BEC-711D-3524-A06F-0878695F02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E6D131B-990B-3FCF-052D-3E55FE437D5B}"/>
              </a:ext>
            </a:extLst>
          </p:cNvPr>
          <p:cNvSpPr>
            <a:spLocks noGrp="1"/>
          </p:cNvSpPr>
          <p:nvPr>
            <p:ph type="dt" sz="half" idx="10"/>
          </p:nvPr>
        </p:nvSpPr>
        <p:spPr/>
        <p:txBody>
          <a:bodyPr/>
          <a:lstStyle/>
          <a:p>
            <a:fld id="{9995C8D4-CBAD-C343-982B-B13CDFD32324}" type="datetimeFigureOut">
              <a:rPr kumimoji="1" lang="ja-JP" altLang="en-US" smtClean="0"/>
              <a:t>2026/1/30</a:t>
            </a:fld>
            <a:endParaRPr kumimoji="1" lang="ja-JP" altLang="en-US"/>
          </a:p>
        </p:txBody>
      </p:sp>
      <p:sp>
        <p:nvSpPr>
          <p:cNvPr id="6" name="フッター プレースホルダー 5">
            <a:extLst>
              <a:ext uri="{FF2B5EF4-FFF2-40B4-BE49-F238E27FC236}">
                <a16:creationId xmlns:a16="http://schemas.microsoft.com/office/drawing/2014/main" id="{18853771-7F8C-2884-C2DD-261F59F2E67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F47D4A0-D9D9-A2B7-B403-94F60A457AAB}"/>
              </a:ext>
            </a:extLst>
          </p:cNvPr>
          <p:cNvSpPr>
            <a:spLocks noGrp="1"/>
          </p:cNvSpPr>
          <p:nvPr>
            <p:ph type="sldNum" sz="quarter" idx="12"/>
          </p:nvPr>
        </p:nvSpPr>
        <p:spPr/>
        <p:txBody>
          <a:bodyPr/>
          <a:lstStyle/>
          <a:p>
            <a:fld id="{F56E3B0B-C032-4446-A23B-EB00B90E1D85}" type="slidenum">
              <a:rPr kumimoji="1" lang="ja-JP" altLang="en-US" smtClean="0"/>
              <a:t>‹#›</a:t>
            </a:fld>
            <a:endParaRPr kumimoji="1" lang="ja-JP" altLang="en-US"/>
          </a:p>
        </p:txBody>
      </p:sp>
    </p:spTree>
    <p:extLst>
      <p:ext uri="{BB962C8B-B14F-4D97-AF65-F5344CB8AC3E}">
        <p14:creationId xmlns:p14="http://schemas.microsoft.com/office/powerpoint/2010/main" val="2809111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25F246-95EF-9EA7-A272-B413A40857F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C3A63FE-4F16-5D32-C7DF-AEF3F2195DC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3F018EF-93CC-696E-C345-A1502947BF1C}"/>
              </a:ext>
            </a:extLst>
          </p:cNvPr>
          <p:cNvSpPr>
            <a:spLocks noGrp="1"/>
          </p:cNvSpPr>
          <p:nvPr>
            <p:ph type="dt" sz="half" idx="10"/>
          </p:nvPr>
        </p:nvSpPr>
        <p:spPr/>
        <p:txBody>
          <a:bodyPr/>
          <a:lstStyle/>
          <a:p>
            <a:fld id="{9995C8D4-CBAD-C343-982B-B13CDFD32324}" type="datetimeFigureOut">
              <a:rPr kumimoji="1" lang="ja-JP" altLang="en-US" smtClean="0"/>
              <a:t>2026/1/30</a:t>
            </a:fld>
            <a:endParaRPr kumimoji="1" lang="ja-JP" altLang="en-US"/>
          </a:p>
        </p:txBody>
      </p:sp>
      <p:sp>
        <p:nvSpPr>
          <p:cNvPr id="5" name="フッター プレースホルダー 4">
            <a:extLst>
              <a:ext uri="{FF2B5EF4-FFF2-40B4-BE49-F238E27FC236}">
                <a16:creationId xmlns:a16="http://schemas.microsoft.com/office/drawing/2014/main" id="{EA4E0D57-6539-8C11-BB5D-43AF2DBC9C7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CB887B2-2C26-94F0-BAF7-59AF0588242A}"/>
              </a:ext>
            </a:extLst>
          </p:cNvPr>
          <p:cNvSpPr>
            <a:spLocks noGrp="1"/>
          </p:cNvSpPr>
          <p:nvPr>
            <p:ph type="sldNum" sz="quarter" idx="12"/>
          </p:nvPr>
        </p:nvSpPr>
        <p:spPr/>
        <p:txBody>
          <a:bodyPr/>
          <a:lstStyle/>
          <a:p>
            <a:fld id="{F56E3B0B-C032-4446-A23B-EB00B90E1D85}" type="slidenum">
              <a:rPr kumimoji="1" lang="ja-JP" altLang="en-US" smtClean="0"/>
              <a:t>‹#›</a:t>
            </a:fld>
            <a:endParaRPr kumimoji="1" lang="ja-JP" altLang="en-US"/>
          </a:p>
        </p:txBody>
      </p:sp>
    </p:spTree>
    <p:extLst>
      <p:ext uri="{BB962C8B-B14F-4D97-AF65-F5344CB8AC3E}">
        <p14:creationId xmlns:p14="http://schemas.microsoft.com/office/powerpoint/2010/main" val="3996202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9112005-ACE5-7193-20A6-F90AEAD1EAD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569D9A3-E4FC-4E3C-336C-926CAC1187C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6981A91-634D-AD0B-E2F9-1D5AAC6EBAE2}"/>
              </a:ext>
            </a:extLst>
          </p:cNvPr>
          <p:cNvSpPr>
            <a:spLocks noGrp="1"/>
          </p:cNvSpPr>
          <p:nvPr>
            <p:ph type="dt" sz="half" idx="10"/>
          </p:nvPr>
        </p:nvSpPr>
        <p:spPr/>
        <p:txBody>
          <a:bodyPr/>
          <a:lstStyle/>
          <a:p>
            <a:fld id="{9995C8D4-CBAD-C343-982B-B13CDFD32324}" type="datetimeFigureOut">
              <a:rPr kumimoji="1" lang="ja-JP" altLang="en-US" smtClean="0"/>
              <a:t>2026/1/30</a:t>
            </a:fld>
            <a:endParaRPr kumimoji="1" lang="ja-JP" altLang="en-US"/>
          </a:p>
        </p:txBody>
      </p:sp>
      <p:sp>
        <p:nvSpPr>
          <p:cNvPr id="5" name="フッター プレースホルダー 4">
            <a:extLst>
              <a:ext uri="{FF2B5EF4-FFF2-40B4-BE49-F238E27FC236}">
                <a16:creationId xmlns:a16="http://schemas.microsoft.com/office/drawing/2014/main" id="{121F477F-3948-3099-CC76-BD8DFA3488C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BE084D6-3AC0-A65C-29D5-8D739213FB1D}"/>
              </a:ext>
            </a:extLst>
          </p:cNvPr>
          <p:cNvSpPr>
            <a:spLocks noGrp="1"/>
          </p:cNvSpPr>
          <p:nvPr>
            <p:ph type="sldNum" sz="quarter" idx="12"/>
          </p:nvPr>
        </p:nvSpPr>
        <p:spPr/>
        <p:txBody>
          <a:bodyPr/>
          <a:lstStyle/>
          <a:p>
            <a:fld id="{F56E3B0B-C032-4446-A23B-EB00B90E1D85}" type="slidenum">
              <a:rPr kumimoji="1" lang="ja-JP" altLang="en-US" smtClean="0"/>
              <a:t>‹#›</a:t>
            </a:fld>
            <a:endParaRPr kumimoji="1" lang="ja-JP" altLang="en-US"/>
          </a:p>
        </p:txBody>
      </p:sp>
    </p:spTree>
    <p:extLst>
      <p:ext uri="{BB962C8B-B14F-4D97-AF65-F5344CB8AC3E}">
        <p14:creationId xmlns:p14="http://schemas.microsoft.com/office/powerpoint/2010/main" val="3833289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70B2564-5BFB-5309-0DFE-9FE9E8477F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E5129C1-A23D-419B-5EFD-A9477F7BFE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5536923-ACE6-7EC7-B2CF-10B3B6B13C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95C8D4-CBAD-C343-982B-B13CDFD32324}" type="datetimeFigureOut">
              <a:rPr kumimoji="1" lang="ja-JP" altLang="en-US" smtClean="0"/>
              <a:t>2026/1/30</a:t>
            </a:fld>
            <a:endParaRPr kumimoji="1" lang="ja-JP" altLang="en-US"/>
          </a:p>
        </p:txBody>
      </p:sp>
      <p:sp>
        <p:nvSpPr>
          <p:cNvPr id="5" name="フッター プレースホルダー 4">
            <a:extLst>
              <a:ext uri="{FF2B5EF4-FFF2-40B4-BE49-F238E27FC236}">
                <a16:creationId xmlns:a16="http://schemas.microsoft.com/office/drawing/2014/main" id="{584814D9-C76F-0BE9-86E0-D175C3591C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C941CE6-64AD-4B5C-C9C3-99C74B9161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6E3B0B-C032-4446-A23B-EB00B90E1D85}" type="slidenum">
              <a:rPr kumimoji="1" lang="ja-JP" altLang="en-US" smtClean="0"/>
              <a:t>‹#›</a:t>
            </a:fld>
            <a:endParaRPr kumimoji="1" lang="ja-JP" altLang="en-US"/>
          </a:p>
        </p:txBody>
      </p:sp>
    </p:spTree>
    <p:extLst>
      <p:ext uri="{BB962C8B-B14F-4D97-AF65-F5344CB8AC3E}">
        <p14:creationId xmlns:p14="http://schemas.microsoft.com/office/powerpoint/2010/main" val="1082169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四角形: 角を丸くする 35">
            <a:extLst>
              <a:ext uri="{FF2B5EF4-FFF2-40B4-BE49-F238E27FC236}">
                <a16:creationId xmlns:a16="http://schemas.microsoft.com/office/drawing/2014/main" id="{BE01BCC6-492B-21F8-9BAE-A58C1407EF9B}"/>
              </a:ext>
            </a:extLst>
          </p:cNvPr>
          <p:cNvSpPr/>
          <p:nvPr/>
        </p:nvSpPr>
        <p:spPr>
          <a:xfrm>
            <a:off x="3757470" y="125270"/>
            <a:ext cx="4974425" cy="4417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a:solidFill>
                  <a:schemeClr val="tx1"/>
                </a:solidFill>
              </a:rPr>
              <a:t>自己紹介</a:t>
            </a:r>
            <a:endParaRPr kumimoji="1" lang="ja-JP" altLang="en-US" sz="2400" dirty="0">
              <a:solidFill>
                <a:schemeClr val="tx1"/>
              </a:solidFill>
            </a:endParaRPr>
          </a:p>
        </p:txBody>
      </p:sp>
      <p:sp>
        <p:nvSpPr>
          <p:cNvPr id="6" name="テキスト ボックス 5">
            <a:extLst>
              <a:ext uri="{FF2B5EF4-FFF2-40B4-BE49-F238E27FC236}">
                <a16:creationId xmlns:a16="http://schemas.microsoft.com/office/drawing/2014/main" id="{90D48384-B9DB-CACB-EC48-DB2BDAD58E7C}"/>
              </a:ext>
            </a:extLst>
          </p:cNvPr>
          <p:cNvSpPr txBox="1"/>
          <p:nvPr/>
        </p:nvSpPr>
        <p:spPr>
          <a:xfrm>
            <a:off x="254668" y="1137717"/>
            <a:ext cx="11682663" cy="3893245"/>
          </a:xfrm>
          <a:prstGeom prst="rect">
            <a:avLst/>
          </a:prstGeom>
          <a:noFill/>
          <a:ln>
            <a:solidFill>
              <a:schemeClr val="accent6">
                <a:lumMod val="60000"/>
                <a:lumOff val="40000"/>
              </a:schemeClr>
            </a:solidFill>
          </a:ln>
        </p:spPr>
        <p:txBody>
          <a:bodyPr wrap="square">
            <a:spAutoFit/>
          </a:bodyPr>
          <a:lstStyle/>
          <a:p>
            <a:pPr algn="l" fontAlgn="base">
              <a:lnSpc>
                <a:spcPct val="200000"/>
              </a:lnSpc>
              <a:buNone/>
            </a:pPr>
            <a:r>
              <a:rPr lang="en-US" altLang="ja-JP" sz="2000" b="0" i="0" dirty="0">
                <a:solidFill>
                  <a:srgbClr val="333333"/>
                </a:solidFill>
                <a:effectLst/>
                <a:latin typeface="Helvetica Neue" panose="02000503000000020004" pitchFamily="2" charset="0"/>
              </a:rPr>
              <a:t>【</a:t>
            </a:r>
            <a:r>
              <a:rPr lang="ja-JP" altLang="en-US" sz="2000" b="0" i="0" dirty="0">
                <a:solidFill>
                  <a:srgbClr val="333333"/>
                </a:solidFill>
                <a:effectLst/>
                <a:latin typeface="Helvetica Neue" panose="02000503000000020004" pitchFamily="2" charset="0"/>
              </a:rPr>
              <a:t>自己紹介</a:t>
            </a:r>
            <a:r>
              <a:rPr lang="en-US" altLang="ja-JP" sz="2000" b="0" i="0" dirty="0">
                <a:solidFill>
                  <a:srgbClr val="333333"/>
                </a:solidFill>
                <a:effectLst/>
                <a:latin typeface="Helvetica Neue" panose="02000503000000020004" pitchFamily="2" charset="0"/>
              </a:rPr>
              <a:t>】</a:t>
            </a:r>
            <a:br>
              <a:rPr lang="en-US" altLang="ja-JP" sz="2000" b="0" i="0" dirty="0">
                <a:solidFill>
                  <a:srgbClr val="333333"/>
                </a:solidFill>
                <a:effectLst/>
                <a:latin typeface="Helvetica Neue" panose="02000503000000020004" pitchFamily="2" charset="0"/>
              </a:rPr>
            </a:br>
            <a:r>
              <a:rPr lang="ja-JP" altLang="en-US" sz="2000" b="0" i="0" dirty="0">
                <a:solidFill>
                  <a:srgbClr val="333333"/>
                </a:solidFill>
                <a:effectLst/>
                <a:latin typeface="Helvetica Neue" panose="02000503000000020004" pitchFamily="2" charset="0"/>
              </a:rPr>
              <a:t>・年齢：</a:t>
            </a:r>
            <a:r>
              <a:rPr lang="en-US" altLang="ja-JP" sz="2000" b="0" i="0" dirty="0">
                <a:solidFill>
                  <a:srgbClr val="333333"/>
                </a:solidFill>
                <a:effectLst/>
                <a:latin typeface="Helvetica Neue" panose="02000503000000020004" pitchFamily="2" charset="0"/>
              </a:rPr>
              <a:t>55</a:t>
            </a:r>
            <a:r>
              <a:rPr lang="ja-JP" altLang="en-US" sz="2000" b="0" i="0" dirty="0">
                <a:solidFill>
                  <a:srgbClr val="333333"/>
                </a:solidFill>
                <a:effectLst/>
                <a:latin typeface="Helvetica Neue" panose="02000503000000020004" pitchFamily="2" charset="0"/>
              </a:rPr>
              <a:t>歳</a:t>
            </a:r>
          </a:p>
          <a:p>
            <a:pPr algn="l" fontAlgn="base">
              <a:lnSpc>
                <a:spcPct val="200000"/>
              </a:lnSpc>
              <a:buNone/>
            </a:pPr>
            <a:r>
              <a:rPr lang="ja-JP" altLang="en-US" sz="2000" b="0" i="0" dirty="0">
                <a:solidFill>
                  <a:srgbClr val="333333"/>
                </a:solidFill>
                <a:effectLst/>
                <a:latin typeface="Helvetica Neue" panose="02000503000000020004" pitchFamily="2" charset="0"/>
              </a:rPr>
              <a:t>・言語等：</a:t>
            </a:r>
            <a:r>
              <a:rPr lang="en" altLang="ja-JP" sz="2000" b="0" i="0" dirty="0">
                <a:solidFill>
                  <a:srgbClr val="333333"/>
                </a:solidFill>
                <a:effectLst/>
                <a:latin typeface="Helvetica Neue" panose="02000503000000020004" pitchFamily="2" charset="0"/>
              </a:rPr>
              <a:t>C/C#/Python/PLC/HTML/CSS/JavaScript/jQuery/Linux/MySQL/Docker</a:t>
            </a:r>
          </a:p>
          <a:p>
            <a:pPr algn="l" fontAlgn="base">
              <a:lnSpc>
                <a:spcPct val="200000"/>
              </a:lnSpc>
              <a:buNone/>
            </a:pPr>
            <a:r>
              <a:rPr lang="ja-JP" altLang="en-US" sz="2000" dirty="0">
                <a:solidFill>
                  <a:srgbClr val="333333"/>
                </a:solidFill>
                <a:latin typeface="Helvetica Neue" panose="02000503000000020004" pitchFamily="2" charset="0"/>
              </a:rPr>
              <a:t>・通信等：</a:t>
            </a:r>
            <a:r>
              <a:rPr lang="en-US" altLang="ja-JP" sz="2000" dirty="0">
                <a:solidFill>
                  <a:srgbClr val="333333"/>
                </a:solidFill>
                <a:latin typeface="Helvetica Neue" panose="02000503000000020004" pitchFamily="2" charset="0"/>
              </a:rPr>
              <a:t>CAN / RS232C / RS422,485</a:t>
            </a:r>
            <a:endParaRPr lang="en" altLang="ja-JP" sz="2000" b="0" i="0" dirty="0">
              <a:solidFill>
                <a:srgbClr val="333333"/>
              </a:solidFill>
              <a:effectLst/>
              <a:latin typeface="Helvetica Neue" panose="02000503000000020004" pitchFamily="2" charset="0"/>
            </a:endParaRPr>
          </a:p>
          <a:p>
            <a:pPr algn="l" fontAlgn="base">
              <a:lnSpc>
                <a:spcPct val="150000"/>
              </a:lnSpc>
            </a:pPr>
            <a:r>
              <a:rPr lang="ja-JP" altLang="en" sz="2000" b="0" i="0" dirty="0">
                <a:solidFill>
                  <a:srgbClr val="333333"/>
                </a:solidFill>
                <a:effectLst/>
                <a:latin typeface="Helvetica Neue" panose="02000503000000020004" pitchFamily="2" charset="0"/>
              </a:rPr>
              <a:t>・</a:t>
            </a:r>
            <a:r>
              <a:rPr lang="ja-JP" altLang="en-US" sz="2000" b="0" i="0" dirty="0">
                <a:solidFill>
                  <a:srgbClr val="333333"/>
                </a:solidFill>
                <a:effectLst/>
                <a:latin typeface="Helvetica Neue" panose="02000503000000020004" pitchFamily="2" charset="0"/>
              </a:rPr>
              <a:t>職歴の概略：関西の複数の機械メーカーで組込制御開発に約</a:t>
            </a:r>
            <a:r>
              <a:rPr lang="en-US" altLang="ja-JP" sz="2000" b="0" i="0" dirty="0">
                <a:solidFill>
                  <a:srgbClr val="333333"/>
                </a:solidFill>
                <a:effectLst/>
                <a:latin typeface="Helvetica Neue" panose="02000503000000020004" pitchFamily="2" charset="0"/>
              </a:rPr>
              <a:t>20</a:t>
            </a:r>
            <a:r>
              <a:rPr lang="ja-JP" altLang="en-US" sz="2000" b="0" i="0" dirty="0">
                <a:solidFill>
                  <a:srgbClr val="333333"/>
                </a:solidFill>
                <a:effectLst/>
                <a:latin typeface="Helvetica Neue" panose="02000503000000020004" pitchFamily="2" charset="0"/>
              </a:rPr>
              <a:t>年従事した後、</a:t>
            </a:r>
            <a:endParaRPr lang="en-US" altLang="ja-JP" sz="2000" b="0" i="0" dirty="0">
              <a:solidFill>
                <a:srgbClr val="333333"/>
              </a:solidFill>
              <a:effectLst/>
              <a:latin typeface="Helvetica Neue" panose="02000503000000020004" pitchFamily="2" charset="0"/>
            </a:endParaRPr>
          </a:p>
          <a:p>
            <a:pPr algn="l" fontAlgn="base">
              <a:lnSpc>
                <a:spcPct val="150000"/>
              </a:lnSpc>
            </a:pPr>
            <a:r>
              <a:rPr lang="en-US" altLang="ja-JP" sz="2000" dirty="0">
                <a:solidFill>
                  <a:srgbClr val="333333"/>
                </a:solidFill>
                <a:latin typeface="Helvetica Neue" panose="02000503000000020004" pitchFamily="2" charset="0"/>
              </a:rPr>
              <a:t>   </a:t>
            </a:r>
            <a:r>
              <a:rPr lang="ja-JP" altLang="en-US" sz="2000" b="0" i="0" dirty="0">
                <a:solidFill>
                  <a:srgbClr val="333333"/>
                </a:solidFill>
                <a:effectLst/>
                <a:latin typeface="Helvetica Neue" panose="02000503000000020004" pitchFamily="2" charset="0"/>
              </a:rPr>
              <a:t>現職では主に</a:t>
            </a:r>
            <a:r>
              <a:rPr lang="en-US" altLang="ja-JP" sz="2000" b="0" i="0" dirty="0">
                <a:solidFill>
                  <a:srgbClr val="333333"/>
                </a:solidFill>
                <a:effectLst/>
                <a:latin typeface="Helvetica Neue" panose="02000503000000020004" pitchFamily="2" charset="0"/>
              </a:rPr>
              <a:t>Python</a:t>
            </a:r>
            <a:r>
              <a:rPr lang="ja-JP" altLang="en-US" sz="2000" b="0" i="0" dirty="0">
                <a:solidFill>
                  <a:srgbClr val="333333"/>
                </a:solidFill>
                <a:effectLst/>
                <a:latin typeface="Helvetica Neue" panose="02000503000000020004" pitchFamily="2" charset="0"/>
              </a:rPr>
              <a:t>を用いて工場の生産管理システムの開発</a:t>
            </a:r>
            <a:r>
              <a:rPr lang="en-US" altLang="ja-JP" sz="2000" b="0" i="0" dirty="0">
                <a:solidFill>
                  <a:srgbClr val="333333"/>
                </a:solidFill>
                <a:effectLst/>
                <a:latin typeface="Helvetica Neue" panose="02000503000000020004" pitchFamily="2" charset="0"/>
              </a:rPr>
              <a:t>(</a:t>
            </a:r>
            <a:r>
              <a:rPr lang="ja-JP" altLang="en-US" sz="2000" b="0" i="0" dirty="0">
                <a:solidFill>
                  <a:srgbClr val="333333"/>
                </a:solidFill>
                <a:effectLst/>
                <a:latin typeface="Helvetica Neue" panose="02000503000000020004" pitchFamily="2" charset="0"/>
              </a:rPr>
              <a:t>サーバー・クライアント共</a:t>
            </a:r>
            <a:r>
              <a:rPr lang="en-US" altLang="ja-JP" sz="2000" b="0" i="0" dirty="0">
                <a:solidFill>
                  <a:srgbClr val="333333"/>
                </a:solidFill>
                <a:effectLst/>
                <a:latin typeface="Helvetica Neue" panose="02000503000000020004" pitchFamily="2" charset="0"/>
              </a:rPr>
              <a:t>)</a:t>
            </a:r>
            <a:r>
              <a:rPr lang="ja-JP" altLang="en-US" sz="2000" b="0" i="0" dirty="0">
                <a:solidFill>
                  <a:srgbClr val="333333"/>
                </a:solidFill>
                <a:effectLst/>
                <a:latin typeface="Helvetica Neue" panose="02000503000000020004" pitchFamily="2" charset="0"/>
              </a:rPr>
              <a:t>に約</a:t>
            </a:r>
            <a:r>
              <a:rPr lang="en-US" altLang="ja-JP" sz="2000" b="0" i="0" dirty="0">
                <a:solidFill>
                  <a:srgbClr val="333333"/>
                </a:solidFill>
                <a:effectLst/>
                <a:latin typeface="Helvetica Neue" panose="02000503000000020004" pitchFamily="2" charset="0"/>
              </a:rPr>
              <a:t>10</a:t>
            </a:r>
            <a:r>
              <a:rPr lang="ja-JP" altLang="en-US" sz="2000" b="0" i="0" dirty="0">
                <a:solidFill>
                  <a:srgbClr val="333333"/>
                </a:solidFill>
                <a:effectLst/>
                <a:latin typeface="Helvetica Neue" panose="02000503000000020004" pitchFamily="2" charset="0"/>
              </a:rPr>
              <a:t>年携わっております。</a:t>
            </a:r>
          </a:p>
        </p:txBody>
      </p:sp>
    </p:spTree>
    <p:extLst>
      <p:ext uri="{BB962C8B-B14F-4D97-AF65-F5344CB8AC3E}">
        <p14:creationId xmlns:p14="http://schemas.microsoft.com/office/powerpoint/2010/main" val="431159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EC26E252-9D89-FC82-DABB-7CC0BC0ADDEF}"/>
              </a:ext>
            </a:extLst>
          </p:cNvPr>
          <p:cNvSpPr txBox="1"/>
          <p:nvPr/>
        </p:nvSpPr>
        <p:spPr>
          <a:xfrm>
            <a:off x="158294" y="825341"/>
            <a:ext cx="11875411" cy="3502434"/>
          </a:xfrm>
          <a:prstGeom prst="rect">
            <a:avLst/>
          </a:prstGeom>
          <a:solidFill>
            <a:schemeClr val="accent2">
              <a:lumMod val="20000"/>
              <a:lumOff val="80000"/>
            </a:schemeClr>
          </a:solidFill>
        </p:spPr>
        <p:txBody>
          <a:bodyPr wrap="square">
            <a:spAutoFit/>
          </a:bodyPr>
          <a:lstStyle/>
          <a:p>
            <a:r>
              <a:rPr lang="ja-JP" altLang="en-US" sz="1600" b="1" dirty="0"/>
              <a:t>▼顧客情報</a:t>
            </a:r>
            <a:endParaRPr lang="ja-JP" altLang="en-US" sz="1600" dirty="0"/>
          </a:p>
          <a:p>
            <a:r>
              <a:rPr lang="ja-JP" altLang="en-US" sz="1600" dirty="0"/>
              <a:t>・職業：組み込み系ソフトシステム開発エンジニア</a:t>
            </a:r>
            <a:endParaRPr lang="en-US" altLang="ja-JP" sz="1600" dirty="0"/>
          </a:p>
          <a:p>
            <a:br>
              <a:rPr lang="ja-JP" altLang="en-US" sz="1600" dirty="0"/>
            </a:br>
            <a:r>
              <a:rPr lang="ja-JP" altLang="en-US" sz="1600" b="1" dirty="0"/>
              <a:t>▼プログラミング経験</a:t>
            </a:r>
            <a:endParaRPr lang="en-US" altLang="ja-JP" sz="1600" b="1" dirty="0"/>
          </a:p>
          <a:p>
            <a:pPr marL="0" marR="0" lvl="0" indent="0" algn="l" defTabSz="914400" rtl="0" eaLnBrk="0" fontAlgn="base" latinLnBrk="0" hangingPunct="0">
              <a:lnSpc>
                <a:spcPct val="150000"/>
              </a:lnSpc>
              <a:spcBef>
                <a:spcPct val="0"/>
              </a:spcBef>
              <a:spcAft>
                <a:spcPct val="0"/>
              </a:spcAft>
              <a:buClrTx/>
              <a:buSzTx/>
              <a:buFontTx/>
              <a:buChar char="•"/>
              <a:tabLst/>
            </a:pPr>
            <a:r>
              <a:rPr kumimoji="0" lang="ja-JP" altLang="ja-JP" sz="1600" b="0" i="0" u="none" strike="noStrike" cap="none" normalizeH="0" baseline="0" dirty="0">
                <a:ln>
                  <a:noFill/>
                </a:ln>
                <a:solidFill>
                  <a:srgbClr val="1D1C1D"/>
                </a:solidFill>
                <a:effectLst/>
                <a:latin typeface="Arial" panose="020B0604020202020204" pitchFamily="34" charset="0"/>
              </a:rPr>
              <a:t>開発業務から離れ20年立っており、実務スキルを戻すことが目的</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ja-JP" altLang="ja-JP" sz="1600" b="0" i="0" u="none" strike="noStrike" cap="none" normalizeH="0" baseline="0" dirty="0">
                <a:ln>
                  <a:noFill/>
                </a:ln>
                <a:solidFill>
                  <a:srgbClr val="1D1C1D"/>
                </a:solidFill>
                <a:effectLst/>
                <a:latin typeface="Arial" panose="020B0604020202020204" pitchFamily="34" charset="0"/>
              </a:rPr>
              <a:t>自動車業界の組み込み系ソフトシステム開発エンジニアとして、開発10年・要件定義を主とした上流20年</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ja-JP" altLang="ja-JP" sz="1600" b="0" i="0" u="none" strike="noStrike" cap="none" normalizeH="0" baseline="0" dirty="0">
                <a:ln>
                  <a:noFill/>
                </a:ln>
                <a:solidFill>
                  <a:srgbClr val="1D1C1D"/>
                </a:solidFill>
                <a:effectLst/>
                <a:latin typeface="Arial" panose="020B0604020202020204" pitchFamily="34" charset="0"/>
              </a:rPr>
              <a:t>使用言語はC言語とC++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ja-JP" altLang="ja-JP" sz="1600" b="0" i="0" u="none" strike="noStrike" cap="none" normalizeH="0" baseline="0" dirty="0">
                <a:ln>
                  <a:noFill/>
                </a:ln>
                <a:solidFill>
                  <a:srgbClr val="1D1C1D"/>
                </a:solidFill>
                <a:effectLst/>
                <a:latin typeface="Arial" panose="020B0604020202020204" pitchFamily="34" charset="0"/>
              </a:rPr>
              <a:t>Pythonについては未経験</a:t>
            </a:r>
            <a:endParaRPr kumimoji="0" lang="en-US" altLang="ja-JP" sz="1600" i="0" u="none" strike="noStrike" cap="none" normalizeH="0" baseline="0" dirty="0">
              <a:ln>
                <a:noFill/>
              </a:ln>
              <a:solidFill>
                <a:srgbClr val="1D1C1D"/>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tabLst/>
            </a:pPr>
            <a:endParaRPr lang="en-US" altLang="ja-JP" sz="1600" b="1" dirty="0"/>
          </a:p>
          <a:p>
            <a:pPr eaLnBrk="0" fontAlgn="base" hangingPunct="0">
              <a:lnSpc>
                <a:spcPct val="150000"/>
              </a:lnSpc>
              <a:spcBef>
                <a:spcPct val="0"/>
              </a:spcBef>
              <a:spcAft>
                <a:spcPct val="0"/>
              </a:spcAft>
            </a:pPr>
            <a:r>
              <a:rPr lang="ja-JP" altLang="en-US" sz="1600" b="1" dirty="0"/>
              <a:t>▼短期目標</a:t>
            </a:r>
            <a:endParaRPr lang="en-US" altLang="ja-JP" sz="1600" b="1" dirty="0"/>
          </a:p>
          <a:p>
            <a:pPr marL="0" marR="0" lvl="0" indent="0" algn="l" defTabSz="914400" rtl="0" eaLnBrk="0" fontAlgn="base" latinLnBrk="0" hangingPunct="0">
              <a:lnSpc>
                <a:spcPct val="150000"/>
              </a:lnSpc>
              <a:spcBef>
                <a:spcPct val="0"/>
              </a:spcBef>
              <a:spcAft>
                <a:spcPct val="0"/>
              </a:spcAft>
              <a:buClrTx/>
              <a:buSzTx/>
              <a:tabLst/>
            </a:pPr>
            <a:r>
              <a:rPr lang="en-US" altLang="ja-JP" sz="1600" dirty="0"/>
              <a:t>5</a:t>
            </a:r>
            <a:r>
              <a:rPr lang="ja-JP" altLang="en-US" sz="1600" dirty="0"/>
              <a:t>月に</a:t>
            </a:r>
            <a:r>
              <a:rPr lang="en-US" altLang="ja-JP" sz="1600" dirty="0"/>
              <a:t>1</a:t>
            </a:r>
            <a:r>
              <a:rPr lang="ja-JP" altLang="en-US" sz="1600" dirty="0"/>
              <a:t>ヶ月の短期集中学習で</a:t>
            </a:r>
            <a:r>
              <a:rPr lang="en-US" altLang="ja-JP" sz="1600" dirty="0"/>
              <a:t>C</a:t>
            </a:r>
            <a:r>
              <a:rPr lang="ja-JP" altLang="en-US" sz="1600" dirty="0"/>
              <a:t>言語・</a:t>
            </a:r>
            <a:r>
              <a:rPr lang="en-US" altLang="ja-JP" sz="1600" dirty="0"/>
              <a:t>C++</a:t>
            </a:r>
            <a:r>
              <a:rPr lang="ja-JP" altLang="en-US" sz="1600" dirty="0"/>
              <a:t>のスキルを実務レベルまで回復、</a:t>
            </a:r>
            <a:r>
              <a:rPr lang="en-US" altLang="ja-JP" sz="1600" dirty="0"/>
              <a:t>Python</a:t>
            </a:r>
            <a:r>
              <a:rPr lang="ja-JP" altLang="en-US" sz="1600" dirty="0"/>
              <a:t>の実務経験レベルまでの習得</a:t>
            </a:r>
            <a:endParaRPr kumimoji="0" lang="en-US" altLang="ja-JP"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72213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EC26E252-9D89-FC82-DABB-7CC0BC0ADDEF}"/>
              </a:ext>
            </a:extLst>
          </p:cNvPr>
          <p:cNvSpPr txBox="1"/>
          <p:nvPr/>
        </p:nvSpPr>
        <p:spPr>
          <a:xfrm>
            <a:off x="347311" y="773656"/>
            <a:ext cx="11497378" cy="3785652"/>
          </a:xfrm>
          <a:prstGeom prst="rect">
            <a:avLst/>
          </a:prstGeom>
          <a:solidFill>
            <a:schemeClr val="accent2">
              <a:lumMod val="20000"/>
              <a:lumOff val="80000"/>
            </a:schemeClr>
          </a:solidFill>
        </p:spPr>
        <p:txBody>
          <a:bodyPr wrap="square">
            <a:spAutoFit/>
          </a:bodyPr>
          <a:lstStyle/>
          <a:p>
            <a:r>
              <a:rPr lang="ja-JP" altLang="en-US" sz="2400" dirty="0">
                <a:solidFill>
                  <a:srgbClr val="1D1C1D"/>
                </a:solidFill>
                <a:latin typeface="Monaco" pitchFamily="2" charset="0"/>
              </a:rPr>
              <a:t>１．組み込みマイコンと</a:t>
            </a:r>
            <a:r>
              <a:rPr lang="en-US" altLang="ja-JP" sz="2400" dirty="0">
                <a:solidFill>
                  <a:srgbClr val="1D1C1D"/>
                </a:solidFill>
                <a:latin typeface="Monaco" pitchFamily="2" charset="0"/>
              </a:rPr>
              <a:t>C</a:t>
            </a:r>
            <a:r>
              <a:rPr lang="ja-JP" altLang="en-US" sz="2400" dirty="0">
                <a:solidFill>
                  <a:srgbClr val="1D1C1D"/>
                </a:solidFill>
                <a:latin typeface="Monaco" pitchFamily="2" charset="0"/>
              </a:rPr>
              <a:t>言語を使った開発</a:t>
            </a:r>
            <a:endParaRPr lang="en-US" altLang="ja-JP" sz="2400" dirty="0">
              <a:solidFill>
                <a:srgbClr val="1D1C1D"/>
              </a:solidFill>
              <a:latin typeface="Monaco" pitchFamily="2" charset="0"/>
            </a:endParaRPr>
          </a:p>
          <a:p>
            <a:r>
              <a:rPr lang="ja-JP" altLang="en-US" sz="2400" dirty="0">
                <a:solidFill>
                  <a:srgbClr val="1D1C1D"/>
                </a:solidFill>
                <a:latin typeface="Monaco" pitchFamily="2" charset="0"/>
              </a:rPr>
              <a:t>　</a:t>
            </a:r>
            <a:r>
              <a:rPr lang="en-US" altLang="ja-JP" sz="2400" dirty="0">
                <a:solidFill>
                  <a:srgbClr val="1D1C1D"/>
                </a:solidFill>
                <a:latin typeface="Monaco" pitchFamily="2" charset="0"/>
              </a:rPr>
              <a:t> </a:t>
            </a:r>
            <a:r>
              <a:rPr lang="ja-JP" altLang="en-US" sz="2400" dirty="0">
                <a:solidFill>
                  <a:srgbClr val="1D1C1D"/>
                </a:solidFill>
                <a:latin typeface="Monaco" pitchFamily="2" charset="0"/>
              </a:rPr>
              <a:t>ー＞</a:t>
            </a:r>
            <a:r>
              <a:rPr lang="en-US" altLang="ja-JP" sz="2400" dirty="0">
                <a:solidFill>
                  <a:srgbClr val="1D1C1D"/>
                </a:solidFill>
                <a:latin typeface="Monaco" pitchFamily="2" charset="0"/>
              </a:rPr>
              <a:t> </a:t>
            </a:r>
            <a:r>
              <a:rPr lang="ja-JP" altLang="en-US" sz="2400" dirty="0">
                <a:solidFill>
                  <a:srgbClr val="1D1C1D"/>
                </a:solidFill>
                <a:latin typeface="Monaco" pitchFamily="2" charset="0"/>
              </a:rPr>
              <a:t>機械語・アセンブラ・</a:t>
            </a:r>
            <a:r>
              <a:rPr lang="en-US" altLang="ja-JP" sz="2400" dirty="0">
                <a:solidFill>
                  <a:srgbClr val="1D1C1D"/>
                </a:solidFill>
                <a:latin typeface="Monaco" pitchFamily="2" charset="0"/>
              </a:rPr>
              <a:t>C</a:t>
            </a:r>
            <a:r>
              <a:rPr lang="ja-JP" altLang="en-US" sz="2400" dirty="0">
                <a:solidFill>
                  <a:srgbClr val="1D1C1D"/>
                </a:solidFill>
                <a:latin typeface="Monaco" pitchFamily="2" charset="0"/>
              </a:rPr>
              <a:t>言語の関係</a:t>
            </a:r>
            <a:endParaRPr lang="en-US" altLang="ja-JP" sz="2400" dirty="0">
              <a:solidFill>
                <a:srgbClr val="1D1C1D"/>
              </a:solidFill>
              <a:latin typeface="Monaco" pitchFamily="2" charset="0"/>
            </a:endParaRPr>
          </a:p>
          <a:p>
            <a:r>
              <a:rPr lang="ja-JP" altLang="en-US" sz="2400" dirty="0">
                <a:solidFill>
                  <a:srgbClr val="1D1C1D"/>
                </a:solidFill>
                <a:latin typeface="Monaco" pitchFamily="2" charset="0"/>
              </a:rPr>
              <a:t>　</a:t>
            </a:r>
            <a:r>
              <a:rPr lang="en-US" altLang="ja-JP" sz="2400" dirty="0">
                <a:solidFill>
                  <a:srgbClr val="1D1C1D"/>
                </a:solidFill>
                <a:latin typeface="Monaco" pitchFamily="2" charset="0"/>
              </a:rPr>
              <a:t> </a:t>
            </a:r>
            <a:r>
              <a:rPr lang="ja-JP" altLang="en-US" sz="2400" dirty="0">
                <a:solidFill>
                  <a:srgbClr val="1D1C1D"/>
                </a:solidFill>
                <a:latin typeface="Monaco" pitchFamily="2" charset="0"/>
              </a:rPr>
              <a:t>ー</a:t>
            </a:r>
            <a:r>
              <a:rPr lang="en-US" altLang="ja-JP" sz="2400" dirty="0">
                <a:solidFill>
                  <a:srgbClr val="1D1C1D"/>
                </a:solidFill>
                <a:latin typeface="Monaco" pitchFamily="2" charset="0"/>
              </a:rPr>
              <a:t>&gt; </a:t>
            </a:r>
            <a:r>
              <a:rPr lang="ja-JP" altLang="en-US" sz="2400" dirty="0">
                <a:solidFill>
                  <a:srgbClr val="1D1C1D"/>
                </a:solidFill>
                <a:latin typeface="Monaco" pitchFamily="2" charset="0"/>
              </a:rPr>
              <a:t>メモリマップド</a:t>
            </a:r>
            <a:r>
              <a:rPr lang="en-US" altLang="ja-JP" sz="2400" dirty="0">
                <a:solidFill>
                  <a:srgbClr val="1D1C1D"/>
                </a:solidFill>
                <a:latin typeface="Monaco" pitchFamily="2" charset="0"/>
              </a:rPr>
              <a:t>I/O</a:t>
            </a:r>
          </a:p>
          <a:p>
            <a:r>
              <a:rPr lang="en-US" altLang="ja-JP" sz="2400" dirty="0">
                <a:solidFill>
                  <a:srgbClr val="1D1C1D"/>
                </a:solidFill>
                <a:latin typeface="Monaco" pitchFamily="2" charset="0"/>
              </a:rPr>
              <a:t>   </a:t>
            </a:r>
            <a:r>
              <a:rPr lang="ja-JP" altLang="en-US" sz="2400" dirty="0">
                <a:solidFill>
                  <a:srgbClr val="1D1C1D"/>
                </a:solidFill>
                <a:latin typeface="Monaco" pitchFamily="2" charset="0"/>
              </a:rPr>
              <a:t>ー</a:t>
            </a:r>
            <a:r>
              <a:rPr lang="en-US" altLang="ja-JP" sz="2400" dirty="0">
                <a:solidFill>
                  <a:srgbClr val="1D1C1D"/>
                </a:solidFill>
                <a:latin typeface="Monaco" pitchFamily="2" charset="0"/>
              </a:rPr>
              <a:t>&gt; </a:t>
            </a:r>
            <a:r>
              <a:rPr lang="ja-JP" altLang="en-US" sz="2400" dirty="0">
                <a:solidFill>
                  <a:srgbClr val="1D1C1D"/>
                </a:solidFill>
                <a:latin typeface="Monaco" pitchFamily="2" charset="0"/>
              </a:rPr>
              <a:t>割り込み・セクション・スタック</a:t>
            </a:r>
            <a:endParaRPr lang="en-US" altLang="ja-JP" sz="2400" dirty="0">
              <a:solidFill>
                <a:srgbClr val="1D1C1D"/>
              </a:solidFill>
              <a:latin typeface="Monaco" pitchFamily="2" charset="0"/>
            </a:endParaRPr>
          </a:p>
          <a:p>
            <a:r>
              <a:rPr lang="ja-JP" altLang="en-US" sz="2400" dirty="0">
                <a:solidFill>
                  <a:srgbClr val="1D1C1D"/>
                </a:solidFill>
                <a:latin typeface="Monaco" pitchFamily="2" charset="0"/>
              </a:rPr>
              <a:t>　　ー</a:t>
            </a:r>
            <a:r>
              <a:rPr lang="en-US" altLang="ja-JP" sz="2400" dirty="0">
                <a:solidFill>
                  <a:srgbClr val="1D1C1D"/>
                </a:solidFill>
                <a:latin typeface="Monaco" pitchFamily="2" charset="0"/>
              </a:rPr>
              <a:t>&gt; </a:t>
            </a:r>
            <a:r>
              <a:rPr lang="ja-JP" altLang="en-US" sz="2400" dirty="0">
                <a:solidFill>
                  <a:srgbClr val="1D1C1D"/>
                </a:solidFill>
                <a:latin typeface="Monaco" pitchFamily="2" charset="0"/>
              </a:rPr>
              <a:t>プログラムカウンタ・リセットベクタ</a:t>
            </a:r>
            <a:endParaRPr lang="en-US" altLang="ja-JP" sz="2400" dirty="0">
              <a:solidFill>
                <a:srgbClr val="1D1C1D"/>
              </a:solidFill>
              <a:latin typeface="Monaco" pitchFamily="2" charset="0"/>
            </a:endParaRPr>
          </a:p>
          <a:p>
            <a:endParaRPr lang="en-US" altLang="ja-JP" sz="2400" dirty="0">
              <a:solidFill>
                <a:srgbClr val="1D1C1D"/>
              </a:solidFill>
              <a:latin typeface="Monaco" pitchFamily="2" charset="0"/>
            </a:endParaRPr>
          </a:p>
          <a:p>
            <a:r>
              <a:rPr lang="ja-JP" altLang="en-US" sz="2400" dirty="0">
                <a:solidFill>
                  <a:srgbClr val="1D1C1D"/>
                </a:solidFill>
                <a:latin typeface="Monaco" pitchFamily="2" charset="0"/>
              </a:rPr>
              <a:t>２．</a:t>
            </a:r>
            <a:r>
              <a:rPr lang="en-US" altLang="ja-JP" sz="2400" dirty="0">
                <a:solidFill>
                  <a:srgbClr val="1D1C1D"/>
                </a:solidFill>
                <a:latin typeface="Monaco" pitchFamily="2" charset="0"/>
              </a:rPr>
              <a:t>C</a:t>
            </a:r>
            <a:r>
              <a:rPr lang="ja-JP" altLang="en-US" sz="2400" dirty="0">
                <a:solidFill>
                  <a:srgbClr val="1D1C1D"/>
                </a:solidFill>
                <a:latin typeface="Monaco" pitchFamily="2" charset="0"/>
              </a:rPr>
              <a:t>言語の復習</a:t>
            </a:r>
            <a:endParaRPr lang="en-US" altLang="ja-JP" sz="2400" dirty="0">
              <a:solidFill>
                <a:srgbClr val="1D1C1D"/>
              </a:solidFill>
              <a:latin typeface="Monaco" pitchFamily="2" charset="0"/>
            </a:endParaRPr>
          </a:p>
          <a:p>
            <a:r>
              <a:rPr lang="ja-JP" altLang="en-US" sz="2400" dirty="0">
                <a:solidFill>
                  <a:srgbClr val="1D1C1D"/>
                </a:solidFill>
                <a:latin typeface="Monaco" pitchFamily="2" charset="0"/>
              </a:rPr>
              <a:t>　　ー</a:t>
            </a:r>
            <a:r>
              <a:rPr lang="en-US" altLang="ja-JP" sz="2400" dirty="0">
                <a:solidFill>
                  <a:srgbClr val="1D1C1D"/>
                </a:solidFill>
                <a:latin typeface="Monaco" pitchFamily="2" charset="0"/>
              </a:rPr>
              <a:t>&gt; </a:t>
            </a:r>
            <a:r>
              <a:rPr lang="ja-JP" altLang="en-US" sz="2400" dirty="0">
                <a:solidFill>
                  <a:srgbClr val="1D1C1D"/>
                </a:solidFill>
                <a:latin typeface="Monaco" pitchFamily="2" charset="0"/>
              </a:rPr>
              <a:t>ポインタ・構造体（共用体）・ファイル分割</a:t>
            </a:r>
            <a:endParaRPr lang="en-US" altLang="ja-JP" sz="2400" b="0" i="0" dirty="0">
              <a:solidFill>
                <a:srgbClr val="1D1C1D"/>
              </a:solidFill>
              <a:effectLst/>
              <a:latin typeface="Monaco" pitchFamily="2" charset="0"/>
            </a:endParaRPr>
          </a:p>
          <a:p>
            <a:endParaRPr lang="en-US" altLang="ja-JP" sz="2400" b="0" i="0" dirty="0">
              <a:solidFill>
                <a:srgbClr val="1D1C1D"/>
              </a:solidFill>
              <a:effectLst/>
              <a:latin typeface="Monaco" pitchFamily="2" charset="0"/>
            </a:endParaRPr>
          </a:p>
          <a:p>
            <a:r>
              <a:rPr lang="en-US" altLang="ja-JP" sz="2400" dirty="0">
                <a:solidFill>
                  <a:srgbClr val="1D1C1D"/>
                </a:solidFill>
                <a:latin typeface="Monaco" pitchFamily="2" charset="0"/>
              </a:rPr>
              <a:t>【</a:t>
            </a:r>
            <a:r>
              <a:rPr lang="ja-JP" altLang="en-US" sz="2400" dirty="0">
                <a:solidFill>
                  <a:srgbClr val="1D1C1D"/>
                </a:solidFill>
                <a:latin typeface="Monaco" pitchFamily="2" charset="0"/>
              </a:rPr>
              <a:t>参考</a:t>
            </a:r>
            <a:r>
              <a:rPr lang="en-US" altLang="ja-JP" sz="2400" dirty="0">
                <a:solidFill>
                  <a:srgbClr val="1D1C1D"/>
                </a:solidFill>
                <a:latin typeface="Monaco" pitchFamily="2" charset="0"/>
              </a:rPr>
              <a:t>】</a:t>
            </a:r>
            <a:r>
              <a:rPr lang="ja-JP" altLang="en-US" sz="2400" dirty="0">
                <a:solidFill>
                  <a:srgbClr val="1D1C1D"/>
                </a:solidFill>
                <a:latin typeface="Monaco" pitchFamily="2" charset="0"/>
              </a:rPr>
              <a:t>マイコンボードを使った</a:t>
            </a:r>
            <a:r>
              <a:rPr lang="en-US" altLang="ja-JP" sz="2400" dirty="0">
                <a:solidFill>
                  <a:srgbClr val="1D1C1D"/>
                </a:solidFill>
                <a:latin typeface="Monaco" pitchFamily="2" charset="0"/>
              </a:rPr>
              <a:t>C</a:t>
            </a:r>
            <a:r>
              <a:rPr lang="ja-JP" altLang="en-US" sz="2400" dirty="0">
                <a:solidFill>
                  <a:srgbClr val="1D1C1D"/>
                </a:solidFill>
                <a:latin typeface="Monaco" pitchFamily="2" charset="0"/>
              </a:rPr>
              <a:t>言語プログラム開発</a:t>
            </a:r>
            <a:endParaRPr lang="en-US" altLang="ja-JP" sz="2400" dirty="0">
              <a:solidFill>
                <a:srgbClr val="1D1C1D"/>
              </a:solidFill>
              <a:latin typeface="Monaco" pitchFamily="2" charset="0"/>
            </a:endParaRPr>
          </a:p>
        </p:txBody>
      </p:sp>
      <p:sp>
        <p:nvSpPr>
          <p:cNvPr id="2" name="矢印: 下 1">
            <a:extLst>
              <a:ext uri="{FF2B5EF4-FFF2-40B4-BE49-F238E27FC236}">
                <a16:creationId xmlns:a16="http://schemas.microsoft.com/office/drawing/2014/main" id="{1027189E-FB7F-8341-CD11-9A8D70AD8B75}"/>
              </a:ext>
            </a:extLst>
          </p:cNvPr>
          <p:cNvSpPr/>
          <p:nvPr/>
        </p:nvSpPr>
        <p:spPr>
          <a:xfrm>
            <a:off x="4627418" y="4682837"/>
            <a:ext cx="2937164" cy="554181"/>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86936A59-9098-94F6-8471-673443C45C4C}"/>
              </a:ext>
            </a:extLst>
          </p:cNvPr>
          <p:cNvSpPr txBox="1"/>
          <p:nvPr/>
        </p:nvSpPr>
        <p:spPr>
          <a:xfrm>
            <a:off x="698245" y="5351433"/>
            <a:ext cx="11092874" cy="1138773"/>
          </a:xfrm>
          <a:prstGeom prst="rect">
            <a:avLst/>
          </a:prstGeom>
          <a:solidFill>
            <a:schemeClr val="accent5">
              <a:lumMod val="40000"/>
              <a:lumOff val="60000"/>
              <a:alpha val="50000"/>
            </a:schemeClr>
          </a:solidFill>
          <a:ln>
            <a:solidFill>
              <a:schemeClr val="accent5">
                <a:lumMod val="75000"/>
              </a:schemeClr>
            </a:solidFill>
          </a:ln>
        </p:spPr>
        <p:txBody>
          <a:bodyPr wrap="square">
            <a:spAutoFit/>
          </a:bodyPr>
          <a:lstStyle/>
          <a:p>
            <a:r>
              <a:rPr lang="ja-JP" altLang="en-US" sz="2400" dirty="0">
                <a:solidFill>
                  <a:schemeClr val="tx1"/>
                </a:solidFill>
              </a:rPr>
              <a:t>４週間の学習期間で の</a:t>
            </a:r>
            <a:r>
              <a:rPr lang="ja-JP" altLang="en-US" sz="2400" dirty="0"/>
              <a:t>上記全ての学習はボリュームが大きいため</a:t>
            </a:r>
            <a:endParaRPr lang="en-US" altLang="ja-JP" sz="2400" dirty="0"/>
          </a:p>
          <a:p>
            <a:r>
              <a:rPr kumimoji="1" lang="ja-JP" altLang="en-US" sz="2400" dirty="0">
                <a:solidFill>
                  <a:schemeClr val="tx1"/>
                </a:solidFill>
              </a:rPr>
              <a:t>復習の重点をマイコン寄り </a:t>
            </a:r>
            <a:r>
              <a:rPr kumimoji="1" lang="en-US" altLang="ja-JP" sz="2400" dirty="0">
                <a:solidFill>
                  <a:schemeClr val="tx1"/>
                </a:solidFill>
              </a:rPr>
              <a:t>or C</a:t>
            </a:r>
            <a:r>
              <a:rPr kumimoji="1" lang="ja-JP" altLang="en-US" sz="2400" dirty="0">
                <a:solidFill>
                  <a:schemeClr val="tx1"/>
                </a:solidFill>
              </a:rPr>
              <a:t>言語文法寄り どちらを主に置くか？</a:t>
            </a:r>
            <a:endParaRPr kumimoji="1" lang="en-US" altLang="ja-JP" sz="2400" dirty="0">
              <a:solidFill>
                <a:schemeClr val="tx1"/>
              </a:solidFill>
            </a:endParaRPr>
          </a:p>
          <a:p>
            <a:r>
              <a:rPr lang="en-US" altLang="ja-JP" sz="2000" dirty="0"/>
              <a:t>(C++</a:t>
            </a:r>
            <a:r>
              <a:rPr lang="ja-JP" altLang="en-US" sz="2000" dirty="0"/>
              <a:t>も含め</a:t>
            </a:r>
            <a:r>
              <a:rPr lang="en-US" altLang="ja-JP" sz="2000" dirty="0"/>
              <a:t> [</a:t>
            </a:r>
            <a:r>
              <a:rPr lang="ja-JP" altLang="en-US" sz="2000" dirty="0"/>
              <a:t>オブジェクト指向も？</a:t>
            </a:r>
            <a:r>
              <a:rPr lang="en-US" altLang="ja-JP" sz="2000" dirty="0"/>
              <a:t>])</a:t>
            </a:r>
            <a:endParaRPr kumimoji="1" lang="ja-JP" altLang="en-US" sz="2000" dirty="0">
              <a:solidFill>
                <a:schemeClr val="tx1"/>
              </a:solidFill>
            </a:endParaRPr>
          </a:p>
        </p:txBody>
      </p:sp>
      <p:sp>
        <p:nvSpPr>
          <p:cNvPr id="6" name="四角形: 角を丸くする 35">
            <a:extLst>
              <a:ext uri="{FF2B5EF4-FFF2-40B4-BE49-F238E27FC236}">
                <a16:creationId xmlns:a16="http://schemas.microsoft.com/office/drawing/2014/main" id="{F80EEB65-33D6-A3AF-385B-62D8DBDB66E0}"/>
              </a:ext>
            </a:extLst>
          </p:cNvPr>
          <p:cNvSpPr/>
          <p:nvPr/>
        </p:nvSpPr>
        <p:spPr>
          <a:xfrm>
            <a:off x="3757470" y="125270"/>
            <a:ext cx="4974425" cy="4417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tx1"/>
                </a:solidFill>
              </a:rPr>
              <a:t>C</a:t>
            </a:r>
            <a:r>
              <a:rPr lang="ja-JP" altLang="en-US" sz="2400" dirty="0">
                <a:solidFill>
                  <a:schemeClr val="tx1"/>
                </a:solidFill>
              </a:rPr>
              <a:t>言語の学習</a:t>
            </a:r>
            <a:r>
              <a:rPr lang="en-US" altLang="ja-JP" sz="2400" dirty="0">
                <a:solidFill>
                  <a:schemeClr val="tx1"/>
                </a:solidFill>
              </a:rPr>
              <a:t> </a:t>
            </a:r>
            <a:r>
              <a:rPr kumimoji="1" lang="ja-JP" altLang="en-US" sz="2400" dirty="0">
                <a:solidFill>
                  <a:schemeClr val="tx1"/>
                </a:solidFill>
              </a:rPr>
              <a:t> </a:t>
            </a:r>
          </a:p>
        </p:txBody>
      </p:sp>
    </p:spTree>
    <p:extLst>
      <p:ext uri="{BB962C8B-B14F-4D97-AF65-F5344CB8AC3E}">
        <p14:creationId xmlns:p14="http://schemas.microsoft.com/office/powerpoint/2010/main" val="2789837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84AAB-DCA1-4FAD-0C72-58DF07682521}"/>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71A84348-EFFA-DCED-8884-756324873136}"/>
              </a:ext>
            </a:extLst>
          </p:cNvPr>
          <p:cNvSpPr txBox="1"/>
          <p:nvPr/>
        </p:nvSpPr>
        <p:spPr>
          <a:xfrm>
            <a:off x="357216" y="967620"/>
            <a:ext cx="11497378" cy="1938992"/>
          </a:xfrm>
          <a:prstGeom prst="rect">
            <a:avLst/>
          </a:prstGeom>
          <a:solidFill>
            <a:schemeClr val="accent2">
              <a:lumMod val="20000"/>
              <a:lumOff val="80000"/>
            </a:schemeClr>
          </a:solidFill>
        </p:spPr>
        <p:txBody>
          <a:bodyPr wrap="square">
            <a:spAutoFit/>
          </a:bodyPr>
          <a:lstStyle/>
          <a:p>
            <a:r>
              <a:rPr lang="ja-JP" altLang="en-US" sz="2400">
                <a:solidFill>
                  <a:srgbClr val="1D1C1D"/>
                </a:solidFill>
                <a:latin typeface="Monaco" pitchFamily="2" charset="0"/>
              </a:rPr>
              <a:t>２．組み込みマイコンと</a:t>
            </a:r>
            <a:r>
              <a:rPr lang="en-US" altLang="ja-JP" sz="2400" dirty="0">
                <a:solidFill>
                  <a:srgbClr val="1D1C1D"/>
                </a:solidFill>
                <a:latin typeface="Monaco" pitchFamily="2" charset="0"/>
              </a:rPr>
              <a:t>C</a:t>
            </a:r>
            <a:r>
              <a:rPr lang="ja-JP" altLang="en-US" sz="2400">
                <a:solidFill>
                  <a:srgbClr val="1D1C1D"/>
                </a:solidFill>
                <a:latin typeface="Monaco" pitchFamily="2" charset="0"/>
              </a:rPr>
              <a:t>言語を使った開発</a:t>
            </a:r>
            <a:endParaRPr lang="en-US" altLang="ja-JP" sz="2400" dirty="0">
              <a:solidFill>
                <a:srgbClr val="1D1C1D"/>
              </a:solidFill>
              <a:latin typeface="Monaco" pitchFamily="2" charset="0"/>
            </a:endParaRPr>
          </a:p>
          <a:p>
            <a:r>
              <a:rPr lang="ja-JP" altLang="en-US" sz="2400">
                <a:solidFill>
                  <a:srgbClr val="1D1C1D"/>
                </a:solidFill>
                <a:latin typeface="Monaco" pitchFamily="2" charset="0"/>
              </a:rPr>
              <a:t>　</a:t>
            </a:r>
            <a:r>
              <a:rPr lang="en-US" altLang="ja-JP" sz="2400" dirty="0">
                <a:solidFill>
                  <a:srgbClr val="1D1C1D"/>
                </a:solidFill>
                <a:latin typeface="Monaco" pitchFamily="2" charset="0"/>
              </a:rPr>
              <a:t> </a:t>
            </a:r>
            <a:r>
              <a:rPr lang="ja-JP" altLang="en-US" sz="2400">
                <a:solidFill>
                  <a:srgbClr val="1D1C1D"/>
                </a:solidFill>
                <a:latin typeface="Monaco" pitchFamily="2" charset="0"/>
              </a:rPr>
              <a:t>ー＞</a:t>
            </a:r>
            <a:r>
              <a:rPr lang="en-US" altLang="ja-JP" sz="2400" dirty="0">
                <a:solidFill>
                  <a:srgbClr val="1D1C1D"/>
                </a:solidFill>
                <a:latin typeface="Monaco" pitchFamily="2" charset="0"/>
              </a:rPr>
              <a:t> </a:t>
            </a:r>
            <a:r>
              <a:rPr lang="ja-JP" altLang="en-US" sz="2400">
                <a:solidFill>
                  <a:srgbClr val="1D1C1D"/>
                </a:solidFill>
                <a:latin typeface="Monaco" pitchFamily="2" charset="0"/>
              </a:rPr>
              <a:t>機械語・アセンブラ・</a:t>
            </a:r>
            <a:r>
              <a:rPr lang="en-US" altLang="ja-JP" sz="2400" dirty="0">
                <a:solidFill>
                  <a:srgbClr val="1D1C1D"/>
                </a:solidFill>
                <a:latin typeface="Monaco" pitchFamily="2" charset="0"/>
              </a:rPr>
              <a:t>C</a:t>
            </a:r>
            <a:r>
              <a:rPr lang="ja-JP" altLang="en-US" sz="2400">
                <a:solidFill>
                  <a:srgbClr val="1D1C1D"/>
                </a:solidFill>
                <a:latin typeface="Monaco" pitchFamily="2" charset="0"/>
              </a:rPr>
              <a:t>言語の関係</a:t>
            </a:r>
            <a:endParaRPr lang="en-US" altLang="ja-JP" sz="2400" dirty="0">
              <a:solidFill>
                <a:srgbClr val="1D1C1D"/>
              </a:solidFill>
              <a:latin typeface="Monaco" pitchFamily="2" charset="0"/>
            </a:endParaRPr>
          </a:p>
          <a:p>
            <a:r>
              <a:rPr lang="ja-JP" altLang="en-US" sz="2400">
                <a:solidFill>
                  <a:srgbClr val="1D1C1D"/>
                </a:solidFill>
                <a:latin typeface="Monaco" pitchFamily="2" charset="0"/>
              </a:rPr>
              <a:t>　</a:t>
            </a:r>
            <a:r>
              <a:rPr lang="en-US" altLang="ja-JP" sz="2400" dirty="0">
                <a:solidFill>
                  <a:srgbClr val="1D1C1D"/>
                </a:solidFill>
                <a:latin typeface="Monaco" pitchFamily="2" charset="0"/>
              </a:rPr>
              <a:t> </a:t>
            </a:r>
            <a:r>
              <a:rPr lang="ja-JP" altLang="en-US" sz="2400">
                <a:solidFill>
                  <a:srgbClr val="1D1C1D"/>
                </a:solidFill>
                <a:latin typeface="Monaco" pitchFamily="2" charset="0"/>
              </a:rPr>
              <a:t>ー</a:t>
            </a:r>
            <a:r>
              <a:rPr lang="en-US" altLang="ja-JP" sz="2400" dirty="0">
                <a:solidFill>
                  <a:srgbClr val="1D1C1D"/>
                </a:solidFill>
                <a:latin typeface="Monaco" pitchFamily="2" charset="0"/>
              </a:rPr>
              <a:t>&gt; </a:t>
            </a:r>
            <a:r>
              <a:rPr lang="ja-JP" altLang="en-US" sz="2400">
                <a:solidFill>
                  <a:srgbClr val="1D1C1D"/>
                </a:solidFill>
                <a:latin typeface="Monaco" pitchFamily="2" charset="0"/>
              </a:rPr>
              <a:t>メモリマップド</a:t>
            </a:r>
            <a:r>
              <a:rPr lang="en-US" altLang="ja-JP" sz="2400" dirty="0">
                <a:solidFill>
                  <a:srgbClr val="1D1C1D"/>
                </a:solidFill>
                <a:latin typeface="Monaco" pitchFamily="2" charset="0"/>
              </a:rPr>
              <a:t>I/O</a:t>
            </a:r>
          </a:p>
          <a:p>
            <a:r>
              <a:rPr lang="en-US" altLang="ja-JP" sz="2400" dirty="0">
                <a:solidFill>
                  <a:srgbClr val="1D1C1D"/>
                </a:solidFill>
                <a:latin typeface="Monaco" pitchFamily="2" charset="0"/>
              </a:rPr>
              <a:t>   </a:t>
            </a:r>
            <a:r>
              <a:rPr lang="ja-JP" altLang="en-US" sz="2400">
                <a:solidFill>
                  <a:srgbClr val="1D1C1D"/>
                </a:solidFill>
                <a:latin typeface="Monaco" pitchFamily="2" charset="0"/>
              </a:rPr>
              <a:t>ー</a:t>
            </a:r>
            <a:r>
              <a:rPr lang="en-US" altLang="ja-JP" sz="2400" dirty="0">
                <a:solidFill>
                  <a:srgbClr val="1D1C1D"/>
                </a:solidFill>
                <a:latin typeface="Monaco" pitchFamily="2" charset="0"/>
              </a:rPr>
              <a:t>&gt; </a:t>
            </a:r>
            <a:r>
              <a:rPr lang="ja-JP" altLang="en-US" sz="2400">
                <a:solidFill>
                  <a:srgbClr val="1D1C1D"/>
                </a:solidFill>
                <a:latin typeface="Monaco" pitchFamily="2" charset="0"/>
              </a:rPr>
              <a:t>割り込み・セクション・スタック</a:t>
            </a:r>
            <a:endParaRPr lang="en-US" altLang="ja-JP" sz="2400" dirty="0">
              <a:solidFill>
                <a:srgbClr val="1D1C1D"/>
              </a:solidFill>
              <a:latin typeface="Monaco" pitchFamily="2" charset="0"/>
            </a:endParaRPr>
          </a:p>
          <a:p>
            <a:r>
              <a:rPr lang="ja-JP" altLang="en-US" sz="2400">
                <a:solidFill>
                  <a:srgbClr val="1D1C1D"/>
                </a:solidFill>
                <a:latin typeface="Monaco" pitchFamily="2" charset="0"/>
              </a:rPr>
              <a:t>　　ー</a:t>
            </a:r>
            <a:r>
              <a:rPr lang="en-US" altLang="ja-JP" sz="2400" dirty="0">
                <a:solidFill>
                  <a:srgbClr val="1D1C1D"/>
                </a:solidFill>
                <a:latin typeface="Monaco" pitchFamily="2" charset="0"/>
              </a:rPr>
              <a:t>&gt; </a:t>
            </a:r>
            <a:r>
              <a:rPr lang="ja-JP" altLang="en-US" sz="2400">
                <a:solidFill>
                  <a:srgbClr val="1D1C1D"/>
                </a:solidFill>
                <a:latin typeface="Monaco" pitchFamily="2" charset="0"/>
              </a:rPr>
              <a:t>プログラムカウンタ・リセットベクタ</a:t>
            </a:r>
            <a:endParaRPr lang="en-US" altLang="ja-JP" sz="2400" dirty="0">
              <a:solidFill>
                <a:srgbClr val="1D1C1D"/>
              </a:solidFill>
              <a:latin typeface="Monaco" pitchFamily="2" charset="0"/>
            </a:endParaRPr>
          </a:p>
        </p:txBody>
      </p:sp>
      <p:pic>
        <p:nvPicPr>
          <p:cNvPr id="1026" name="Picture 2">
            <a:extLst>
              <a:ext uri="{FF2B5EF4-FFF2-40B4-BE49-F238E27FC236}">
                <a16:creationId xmlns:a16="http://schemas.microsoft.com/office/drawing/2014/main" id="{63BDCE3E-6BEB-D255-D0F3-347C6BBD40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536" y="3152273"/>
            <a:ext cx="2345256" cy="3320716"/>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F55AFA58-44FE-4494-5ABC-E087BC4004B0}"/>
              </a:ext>
            </a:extLst>
          </p:cNvPr>
          <p:cNvSpPr txBox="1"/>
          <p:nvPr/>
        </p:nvSpPr>
        <p:spPr>
          <a:xfrm>
            <a:off x="3395911" y="5628770"/>
            <a:ext cx="8014553" cy="523220"/>
          </a:xfrm>
          <a:prstGeom prst="rect">
            <a:avLst/>
          </a:prstGeom>
          <a:noFill/>
        </p:spPr>
        <p:txBody>
          <a:bodyPr wrap="square">
            <a:spAutoFit/>
          </a:bodyPr>
          <a:lstStyle/>
          <a:p>
            <a:r>
              <a:rPr lang="ja-JP" altLang="en-US" sz="1400" dirty="0"/>
              <a:t>https://www.maruzenjunkudo.co.jp/products/9784627858015?srsltid=AfmBOoqP1AwVtqscCYZ-qW2Xhsux-kAkjhuzn_7STunPh9wgbXBlXIK1</a:t>
            </a:r>
          </a:p>
        </p:txBody>
      </p:sp>
      <p:sp>
        <p:nvSpPr>
          <p:cNvPr id="2" name="四角形: 角を丸くする 35">
            <a:extLst>
              <a:ext uri="{FF2B5EF4-FFF2-40B4-BE49-F238E27FC236}">
                <a16:creationId xmlns:a16="http://schemas.microsoft.com/office/drawing/2014/main" id="{1E28DD2D-7BB1-DF18-E9DB-E0F0D72E0332}"/>
              </a:ext>
            </a:extLst>
          </p:cNvPr>
          <p:cNvSpPr/>
          <p:nvPr/>
        </p:nvSpPr>
        <p:spPr>
          <a:xfrm>
            <a:off x="3757470" y="125270"/>
            <a:ext cx="4974425" cy="4417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tx1"/>
                </a:solidFill>
              </a:rPr>
              <a:t>C</a:t>
            </a:r>
            <a:r>
              <a:rPr lang="ja-JP" altLang="en-US" sz="2400" dirty="0">
                <a:solidFill>
                  <a:schemeClr val="tx1"/>
                </a:solidFill>
              </a:rPr>
              <a:t>言語の復習</a:t>
            </a:r>
            <a:r>
              <a:rPr lang="en-US" altLang="ja-JP" sz="2400" dirty="0">
                <a:solidFill>
                  <a:schemeClr val="tx1"/>
                </a:solidFill>
              </a:rPr>
              <a:t> </a:t>
            </a:r>
            <a:r>
              <a:rPr kumimoji="1" lang="ja-JP" altLang="en-US" sz="2400" dirty="0">
                <a:solidFill>
                  <a:schemeClr val="tx1"/>
                </a:solidFill>
              </a:rPr>
              <a:t> </a:t>
            </a:r>
          </a:p>
        </p:txBody>
      </p:sp>
    </p:spTree>
    <p:extLst>
      <p:ext uri="{BB962C8B-B14F-4D97-AF65-F5344CB8AC3E}">
        <p14:creationId xmlns:p14="http://schemas.microsoft.com/office/powerpoint/2010/main" val="3494985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35A42-AB50-2957-842F-440E1E0D4216}"/>
            </a:ext>
          </a:extLst>
        </p:cNvPr>
        <p:cNvGrpSpPr/>
        <p:nvPr/>
      </p:nvGrpSpPr>
      <p:grpSpPr>
        <a:xfrm>
          <a:off x="0" y="0"/>
          <a:ext cx="0" cy="0"/>
          <a:chOff x="0" y="0"/>
          <a:chExt cx="0" cy="0"/>
        </a:xfrm>
      </p:grpSpPr>
      <p:sp>
        <p:nvSpPr>
          <p:cNvPr id="12" name="四角形: 角を丸くする 35">
            <a:extLst>
              <a:ext uri="{FF2B5EF4-FFF2-40B4-BE49-F238E27FC236}">
                <a16:creationId xmlns:a16="http://schemas.microsoft.com/office/drawing/2014/main" id="{D271AA14-5F7F-93C6-3677-24D6DD782BF3}"/>
              </a:ext>
            </a:extLst>
          </p:cNvPr>
          <p:cNvSpPr/>
          <p:nvPr/>
        </p:nvSpPr>
        <p:spPr>
          <a:xfrm>
            <a:off x="3757470" y="125270"/>
            <a:ext cx="4974425" cy="4417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tx1"/>
                </a:solidFill>
              </a:rPr>
              <a:t>C</a:t>
            </a:r>
            <a:r>
              <a:rPr lang="ja-JP" altLang="en-US" sz="2400" dirty="0">
                <a:solidFill>
                  <a:schemeClr val="tx1"/>
                </a:solidFill>
              </a:rPr>
              <a:t>言語の復習</a:t>
            </a:r>
            <a:r>
              <a:rPr lang="en-US" altLang="ja-JP" sz="2400" dirty="0">
                <a:solidFill>
                  <a:schemeClr val="tx1"/>
                </a:solidFill>
              </a:rPr>
              <a:t> </a:t>
            </a:r>
            <a:r>
              <a:rPr kumimoji="1" lang="ja-JP" altLang="en-US" sz="2400" dirty="0">
                <a:solidFill>
                  <a:schemeClr val="tx1"/>
                </a:solidFill>
              </a:rPr>
              <a:t> </a:t>
            </a:r>
          </a:p>
        </p:txBody>
      </p:sp>
      <p:sp>
        <p:nvSpPr>
          <p:cNvPr id="2" name="テキスト ボックス 1">
            <a:extLst>
              <a:ext uri="{FF2B5EF4-FFF2-40B4-BE49-F238E27FC236}">
                <a16:creationId xmlns:a16="http://schemas.microsoft.com/office/drawing/2014/main" id="{53A72824-4A83-9E7D-0F5F-AA08B803FA86}"/>
              </a:ext>
            </a:extLst>
          </p:cNvPr>
          <p:cNvSpPr txBox="1"/>
          <p:nvPr/>
        </p:nvSpPr>
        <p:spPr>
          <a:xfrm>
            <a:off x="357216" y="967620"/>
            <a:ext cx="11497378" cy="830997"/>
          </a:xfrm>
          <a:prstGeom prst="rect">
            <a:avLst/>
          </a:prstGeom>
          <a:solidFill>
            <a:schemeClr val="accent2">
              <a:lumMod val="20000"/>
              <a:lumOff val="80000"/>
            </a:schemeClr>
          </a:solidFill>
        </p:spPr>
        <p:txBody>
          <a:bodyPr wrap="square">
            <a:spAutoFit/>
          </a:bodyPr>
          <a:lstStyle/>
          <a:p>
            <a:r>
              <a:rPr lang="en-US" altLang="ja-JP" sz="2400" dirty="0">
                <a:solidFill>
                  <a:srgbClr val="1D1C1D"/>
                </a:solidFill>
                <a:latin typeface="Monaco" pitchFamily="2" charset="0"/>
              </a:rPr>
              <a:t>C</a:t>
            </a:r>
            <a:r>
              <a:rPr lang="ja-JP" altLang="en-US" sz="2400" dirty="0">
                <a:solidFill>
                  <a:srgbClr val="1D1C1D"/>
                </a:solidFill>
                <a:latin typeface="Monaco" pitchFamily="2" charset="0"/>
              </a:rPr>
              <a:t>言語の網羅的な復習</a:t>
            </a:r>
            <a:endParaRPr lang="en-US" altLang="ja-JP" sz="2400" dirty="0">
              <a:solidFill>
                <a:srgbClr val="1D1C1D"/>
              </a:solidFill>
              <a:latin typeface="Monaco" pitchFamily="2" charset="0"/>
            </a:endParaRPr>
          </a:p>
          <a:p>
            <a:r>
              <a:rPr lang="ja-JP" altLang="en-US" sz="2400" dirty="0">
                <a:solidFill>
                  <a:srgbClr val="1D1C1D"/>
                </a:solidFill>
                <a:latin typeface="Monaco" pitchFamily="2" charset="0"/>
              </a:rPr>
              <a:t>　　ー</a:t>
            </a:r>
            <a:r>
              <a:rPr lang="en-US" altLang="ja-JP" sz="2400" dirty="0">
                <a:solidFill>
                  <a:srgbClr val="1D1C1D"/>
                </a:solidFill>
                <a:latin typeface="Monaco" pitchFamily="2" charset="0"/>
              </a:rPr>
              <a:t>&gt; </a:t>
            </a:r>
            <a:r>
              <a:rPr lang="ja-JP" altLang="en-US" sz="2400" dirty="0">
                <a:solidFill>
                  <a:srgbClr val="1D1C1D"/>
                </a:solidFill>
                <a:latin typeface="Monaco" pitchFamily="2" charset="0"/>
              </a:rPr>
              <a:t>ポインタ・構造体（共用体）・ファイル分割等</a:t>
            </a:r>
            <a:endParaRPr lang="en-US" altLang="ja-JP" sz="2400" b="0" i="0" dirty="0">
              <a:solidFill>
                <a:srgbClr val="1D1C1D"/>
              </a:solidFill>
              <a:effectLst/>
              <a:latin typeface="Monaco" pitchFamily="2" charset="0"/>
            </a:endParaRPr>
          </a:p>
        </p:txBody>
      </p:sp>
      <p:pic>
        <p:nvPicPr>
          <p:cNvPr id="9" name="Picture 2">
            <a:extLst>
              <a:ext uri="{FF2B5EF4-FFF2-40B4-BE49-F238E27FC236}">
                <a16:creationId xmlns:a16="http://schemas.microsoft.com/office/drawing/2014/main" id="{ABDC8A7C-1F58-BDCA-2906-9D188141DD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526" y="2335129"/>
            <a:ext cx="3048000" cy="3848100"/>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CF85F1D1-369B-434A-0F7F-C0E15D1E2689}"/>
              </a:ext>
            </a:extLst>
          </p:cNvPr>
          <p:cNvSpPr txBox="1"/>
          <p:nvPr/>
        </p:nvSpPr>
        <p:spPr>
          <a:xfrm>
            <a:off x="4659228" y="5059384"/>
            <a:ext cx="6662488" cy="369332"/>
          </a:xfrm>
          <a:prstGeom prst="rect">
            <a:avLst/>
          </a:prstGeom>
          <a:noFill/>
        </p:spPr>
        <p:txBody>
          <a:bodyPr wrap="square">
            <a:spAutoFit/>
          </a:bodyPr>
          <a:lstStyle/>
          <a:p>
            <a:r>
              <a:rPr lang="ja-JP" altLang="en-US"/>
              <a:t>https://www.shoeisha.co.jp/book/detail/9784798150246</a:t>
            </a:r>
          </a:p>
        </p:txBody>
      </p:sp>
    </p:spTree>
    <p:extLst>
      <p:ext uri="{BB962C8B-B14F-4D97-AF65-F5344CB8AC3E}">
        <p14:creationId xmlns:p14="http://schemas.microsoft.com/office/powerpoint/2010/main" val="451685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2FBFD-B1B6-B7B7-6C92-138F068FED92}"/>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5391E79-ECB2-A1F4-B6EC-DE8172FF8776}"/>
              </a:ext>
            </a:extLst>
          </p:cNvPr>
          <p:cNvSpPr txBox="1"/>
          <p:nvPr/>
        </p:nvSpPr>
        <p:spPr>
          <a:xfrm>
            <a:off x="357216" y="765434"/>
            <a:ext cx="11497378" cy="830997"/>
          </a:xfrm>
          <a:prstGeom prst="rect">
            <a:avLst/>
          </a:prstGeom>
          <a:solidFill>
            <a:schemeClr val="accent2">
              <a:lumMod val="20000"/>
              <a:lumOff val="80000"/>
            </a:schemeClr>
          </a:solidFill>
        </p:spPr>
        <p:txBody>
          <a:bodyPr wrap="square">
            <a:spAutoFit/>
          </a:bodyPr>
          <a:lstStyle/>
          <a:p>
            <a:r>
              <a:rPr lang="en-US" altLang="ja-JP" sz="2400" dirty="0">
                <a:solidFill>
                  <a:srgbClr val="1D1C1D"/>
                </a:solidFill>
                <a:latin typeface="Monaco" pitchFamily="2" charset="0"/>
              </a:rPr>
              <a:t>【</a:t>
            </a:r>
            <a:r>
              <a:rPr lang="ja-JP" altLang="en-US" sz="2400" dirty="0">
                <a:solidFill>
                  <a:srgbClr val="1D1C1D"/>
                </a:solidFill>
                <a:latin typeface="Monaco" pitchFamily="2" charset="0"/>
              </a:rPr>
              <a:t>参考</a:t>
            </a:r>
            <a:r>
              <a:rPr lang="en-US" altLang="ja-JP" sz="2400" dirty="0">
                <a:solidFill>
                  <a:srgbClr val="1D1C1D"/>
                </a:solidFill>
                <a:latin typeface="Monaco" pitchFamily="2" charset="0"/>
              </a:rPr>
              <a:t>】</a:t>
            </a:r>
            <a:r>
              <a:rPr lang="ja-JP" altLang="en-US" sz="2400" dirty="0">
                <a:solidFill>
                  <a:srgbClr val="1D1C1D"/>
                </a:solidFill>
                <a:latin typeface="Monaco" pitchFamily="2" charset="0"/>
              </a:rPr>
              <a:t>マイコンボードを使った</a:t>
            </a:r>
            <a:r>
              <a:rPr lang="en-US" altLang="ja-JP" sz="2400" dirty="0">
                <a:solidFill>
                  <a:srgbClr val="1D1C1D"/>
                </a:solidFill>
                <a:latin typeface="Monaco" pitchFamily="2" charset="0"/>
              </a:rPr>
              <a:t>C</a:t>
            </a:r>
            <a:r>
              <a:rPr lang="ja-JP" altLang="en-US" sz="2400" dirty="0">
                <a:solidFill>
                  <a:srgbClr val="1D1C1D"/>
                </a:solidFill>
                <a:latin typeface="Monaco" pitchFamily="2" charset="0"/>
              </a:rPr>
              <a:t>言語プログラム開発 </a:t>
            </a:r>
            <a:endParaRPr lang="en-US" altLang="ja-JP" sz="2400" dirty="0">
              <a:solidFill>
                <a:srgbClr val="1D1C1D"/>
              </a:solidFill>
              <a:latin typeface="Monaco" pitchFamily="2" charset="0"/>
            </a:endParaRPr>
          </a:p>
          <a:p>
            <a:r>
              <a:rPr lang="ja-JP" altLang="en-US" sz="2400" dirty="0">
                <a:solidFill>
                  <a:srgbClr val="1D1C1D"/>
                </a:solidFill>
                <a:latin typeface="Monaco" pitchFamily="2" charset="0"/>
              </a:rPr>
              <a:t>　</a:t>
            </a:r>
            <a:r>
              <a:rPr lang="en-US" altLang="ja-JP" b="1" dirty="0">
                <a:solidFill>
                  <a:schemeClr val="accent6">
                    <a:lumMod val="75000"/>
                  </a:schemeClr>
                </a:solidFill>
                <a:latin typeface="Monaco" pitchFamily="2" charset="0"/>
              </a:rPr>
              <a:t>(</a:t>
            </a:r>
            <a:r>
              <a:rPr lang="ja-JP" altLang="en-US" b="1" dirty="0">
                <a:solidFill>
                  <a:schemeClr val="accent6">
                    <a:lumMod val="75000"/>
                  </a:schemeClr>
                </a:solidFill>
                <a:latin typeface="Monaco" pitchFamily="2" charset="0"/>
              </a:rPr>
              <a:t>短期間のレッスンではレッスン中での学習は時間不足なため自学ベースで</a:t>
            </a:r>
            <a:r>
              <a:rPr lang="en-US" altLang="ja-JP" b="1" dirty="0">
                <a:solidFill>
                  <a:schemeClr val="accent6">
                    <a:lumMod val="75000"/>
                  </a:schemeClr>
                </a:solidFill>
                <a:latin typeface="Monaco" pitchFamily="2" charset="0"/>
              </a:rPr>
              <a:t>)</a:t>
            </a:r>
          </a:p>
        </p:txBody>
      </p:sp>
      <p:sp>
        <p:nvSpPr>
          <p:cNvPr id="4" name="テキスト ボックス 3">
            <a:extLst>
              <a:ext uri="{FF2B5EF4-FFF2-40B4-BE49-F238E27FC236}">
                <a16:creationId xmlns:a16="http://schemas.microsoft.com/office/drawing/2014/main" id="{58529509-7C52-BEB2-84CA-71B45024DD60}"/>
              </a:ext>
            </a:extLst>
          </p:cNvPr>
          <p:cNvSpPr txBox="1"/>
          <p:nvPr/>
        </p:nvSpPr>
        <p:spPr>
          <a:xfrm>
            <a:off x="357216" y="5137957"/>
            <a:ext cx="5452859" cy="369332"/>
          </a:xfrm>
          <a:prstGeom prst="rect">
            <a:avLst/>
          </a:prstGeom>
          <a:noFill/>
        </p:spPr>
        <p:txBody>
          <a:bodyPr wrap="square">
            <a:spAutoFit/>
          </a:bodyPr>
          <a:lstStyle/>
          <a:p>
            <a:r>
              <a:rPr lang="ja-JP" altLang="en-US"/>
              <a:t>https://akizukidenshi.com/catalog/g/g117460/</a:t>
            </a:r>
          </a:p>
        </p:txBody>
      </p:sp>
      <p:pic>
        <p:nvPicPr>
          <p:cNvPr id="2050" name="Picture 2" descr="「新居浜高専PICマイコン学習キット Ver.3 完全ガイド  サポートページ」のカバー画像">
            <a:extLst>
              <a:ext uri="{FF2B5EF4-FFF2-40B4-BE49-F238E27FC236}">
                <a16:creationId xmlns:a16="http://schemas.microsoft.com/office/drawing/2014/main" id="{B5D04B3C-EF2D-F218-BEE0-EF3D08E6D2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0261" y="1829896"/>
            <a:ext cx="2188817" cy="309211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新居浜高専PICマイコン学習キットVer.3 ACアダプター付">
            <a:extLst>
              <a:ext uri="{FF2B5EF4-FFF2-40B4-BE49-F238E27FC236}">
                <a16:creationId xmlns:a16="http://schemas.microsoft.com/office/drawing/2014/main" id="{CB05536E-3327-BA6E-6CB8-3758387A80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7492" y="2784142"/>
            <a:ext cx="3630863" cy="2723147"/>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FB46D27C-6B31-74F0-CB09-78A32D5DECDF}"/>
              </a:ext>
            </a:extLst>
          </p:cNvPr>
          <p:cNvSpPr txBox="1"/>
          <p:nvPr/>
        </p:nvSpPr>
        <p:spPr>
          <a:xfrm>
            <a:off x="6379744" y="5705714"/>
            <a:ext cx="5627772" cy="369332"/>
          </a:xfrm>
          <a:prstGeom prst="rect">
            <a:avLst/>
          </a:prstGeom>
          <a:noFill/>
        </p:spPr>
        <p:txBody>
          <a:bodyPr wrap="square">
            <a:spAutoFit/>
          </a:bodyPr>
          <a:lstStyle/>
          <a:p>
            <a:r>
              <a:rPr lang="ja-JP" altLang="en-US"/>
              <a:t>https://akizukidenshi.com/catalog/g/g117460/</a:t>
            </a:r>
          </a:p>
        </p:txBody>
      </p:sp>
      <p:sp>
        <p:nvSpPr>
          <p:cNvPr id="3" name="四角形: 角を丸くする 35">
            <a:extLst>
              <a:ext uri="{FF2B5EF4-FFF2-40B4-BE49-F238E27FC236}">
                <a16:creationId xmlns:a16="http://schemas.microsoft.com/office/drawing/2014/main" id="{24FF008D-9778-C7AF-E865-00D1CCCB502B}"/>
              </a:ext>
            </a:extLst>
          </p:cNvPr>
          <p:cNvSpPr/>
          <p:nvPr/>
        </p:nvSpPr>
        <p:spPr>
          <a:xfrm>
            <a:off x="3757470" y="125270"/>
            <a:ext cx="4974425" cy="4417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tx1"/>
                </a:solidFill>
              </a:rPr>
              <a:t>C</a:t>
            </a:r>
            <a:r>
              <a:rPr lang="ja-JP" altLang="en-US" sz="2400" dirty="0">
                <a:solidFill>
                  <a:schemeClr val="tx1"/>
                </a:solidFill>
              </a:rPr>
              <a:t>言語の復習</a:t>
            </a:r>
            <a:r>
              <a:rPr lang="en-US" altLang="ja-JP" sz="2400" dirty="0">
                <a:solidFill>
                  <a:schemeClr val="tx1"/>
                </a:solidFill>
              </a:rPr>
              <a:t> </a:t>
            </a:r>
            <a:r>
              <a:rPr kumimoji="1" lang="ja-JP" altLang="en-US" sz="2400" dirty="0">
                <a:solidFill>
                  <a:schemeClr val="tx1"/>
                </a:solidFill>
              </a:rPr>
              <a:t> </a:t>
            </a:r>
          </a:p>
        </p:txBody>
      </p:sp>
    </p:spTree>
    <p:extLst>
      <p:ext uri="{BB962C8B-B14F-4D97-AF65-F5344CB8AC3E}">
        <p14:creationId xmlns:p14="http://schemas.microsoft.com/office/powerpoint/2010/main" val="739949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四角形: 角を丸くする 35">
            <a:extLst>
              <a:ext uri="{FF2B5EF4-FFF2-40B4-BE49-F238E27FC236}">
                <a16:creationId xmlns:a16="http://schemas.microsoft.com/office/drawing/2014/main" id="{1F8ACCA3-3725-2F8F-41F2-C6DA3405C204}"/>
              </a:ext>
            </a:extLst>
          </p:cNvPr>
          <p:cNvSpPr/>
          <p:nvPr/>
        </p:nvSpPr>
        <p:spPr>
          <a:xfrm>
            <a:off x="3757470" y="125270"/>
            <a:ext cx="4974425" cy="4417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solidFill>
              </a:rPr>
              <a:t>マイコンシミュレータ</a:t>
            </a:r>
            <a:r>
              <a:rPr lang="en-US" altLang="ja-JP" sz="2400" dirty="0">
                <a:solidFill>
                  <a:schemeClr val="tx1"/>
                </a:solidFill>
              </a:rPr>
              <a:t> </a:t>
            </a:r>
            <a:r>
              <a:rPr kumimoji="1" lang="ja-JP" altLang="en-US" sz="2400" dirty="0">
                <a:solidFill>
                  <a:schemeClr val="tx1"/>
                </a:solidFill>
              </a:rPr>
              <a:t> </a:t>
            </a:r>
          </a:p>
        </p:txBody>
      </p:sp>
      <p:pic>
        <p:nvPicPr>
          <p:cNvPr id="6" name="図 5">
            <a:extLst>
              <a:ext uri="{FF2B5EF4-FFF2-40B4-BE49-F238E27FC236}">
                <a16:creationId xmlns:a16="http://schemas.microsoft.com/office/drawing/2014/main" id="{CFF35C5E-B4FF-4772-FB09-C061378DD338}"/>
              </a:ext>
            </a:extLst>
          </p:cNvPr>
          <p:cNvPicPr>
            <a:picLocks noChangeAspect="1"/>
          </p:cNvPicPr>
          <p:nvPr/>
        </p:nvPicPr>
        <p:blipFill>
          <a:blip r:embed="rId2"/>
          <a:stretch>
            <a:fillRect/>
          </a:stretch>
        </p:blipFill>
        <p:spPr>
          <a:xfrm>
            <a:off x="56510" y="0"/>
            <a:ext cx="12078980" cy="6858000"/>
          </a:xfrm>
          <a:prstGeom prst="rect">
            <a:avLst/>
          </a:prstGeom>
        </p:spPr>
      </p:pic>
    </p:spTree>
    <p:extLst>
      <p:ext uri="{BB962C8B-B14F-4D97-AF65-F5344CB8AC3E}">
        <p14:creationId xmlns:p14="http://schemas.microsoft.com/office/powerpoint/2010/main" val="278953136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488</TotalTime>
  <Words>490</Words>
  <Application>Microsoft Office PowerPoint</Application>
  <PresentationFormat>ワイド画面</PresentationFormat>
  <Paragraphs>47</Paragraphs>
  <Slides>7</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7</vt:i4>
      </vt:variant>
    </vt:vector>
  </HeadingPairs>
  <TitlesOfParts>
    <vt:vector size="13" baseType="lpstr">
      <vt:lpstr>Helvetica Neue</vt:lpstr>
      <vt:lpstr>Monaco</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隆幸 坂本</dc:creator>
  <cp:lastModifiedBy>SAKAMOTO Takayuki 坂本 隆幸</cp:lastModifiedBy>
  <cp:revision>54</cp:revision>
  <dcterms:created xsi:type="dcterms:W3CDTF">2024-09-16T00:15:03Z</dcterms:created>
  <dcterms:modified xsi:type="dcterms:W3CDTF">2026-01-30T04:48:28Z</dcterms:modified>
</cp:coreProperties>
</file>
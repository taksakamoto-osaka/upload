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159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968FC-B264-1717-FDB5-427B51911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23A30C3-BF53-34D9-1207-9BE00E6F2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9AF0B9-B91C-FAF7-BCD9-C0DD207F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C5504F-5DA4-4A67-9EB3-5FDA0012E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2BC956-ED4C-506D-5F3E-EC5745B0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36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CA67F-4188-8591-487F-74251181D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A9566D-0042-163D-DE0B-9CBAD8B34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A82F86-1CC4-F674-662D-365DC647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6BBF71-167F-8EA9-5A86-3CC41F4A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BBE2FE-20D7-0B5D-C506-BFE8E849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67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38E4F-E3D6-2E64-41E5-7E8F2E0D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A969CB-E066-A3AB-3201-1AA0D6D4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F3E548-5614-A89B-1244-A6FD3F3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781B08-52E6-0E40-BCD4-30B3CC5C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29A041-CE90-2807-E94B-C7B7BA20E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34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97E1C-A3FB-7D7C-F8FD-C7FAABF07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886824-4D8D-D196-7BB2-742F5E467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89CCEE-3768-B096-4997-91F8E18DF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B06777-70B4-C48D-3AC9-F6F0236DE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ADECBB-B7CC-7683-BB0E-8D1E1213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99AA6A-69FD-B350-6F2F-F9CEFBD9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39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C2997-03AA-77EF-047A-0E1B5E59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068482-20A4-B747-97A1-E0029BBF0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B895E7-81DD-AEDA-9B7B-22DC18B4A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6AC1B2-9B1D-565E-2A50-11EE8C2D1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46B39F4-DF29-52A5-7A88-4640DE35B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61E6618-530F-61C3-BF12-B4AFF6C3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70604E1-3BF0-E2BB-DB48-8BEA2541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4EADB27-7A3B-D0A4-49CF-3F59BF65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69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F7804-3331-6913-AF37-4F967453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EF4F9A-79D2-1B7C-92CB-46620CA2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E5246F-C0BB-23A4-C713-A7CBA153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9CF068-C192-1A84-DC82-83242275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16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691AE0D-02C9-3667-B0C2-3CCABE25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ACCCEAD-5BEC-A6DA-03A2-EC33DDAA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A986C5-32E4-B406-2718-2474AE3D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7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1C98A-546B-05A7-FFFD-9EAD4158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DFE616-1003-CDFD-7113-E84EF2959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6AB547-FF4C-7785-E1BC-B13170C9F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591B5C-1F84-58D2-58DA-E953B841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7C443C-6CC1-844C-E691-71A01A16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91904F-F32F-41B5-E698-ED15DE37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19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947929-9884-1746-5A1C-232CD62E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64EE57-1F11-95A0-AE51-A0C6C7F7A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AF49FE-846A-5842-4D2F-DB2BCF9BE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ABF246-43DA-0A7F-FB9D-C9450760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69A733-7F52-65BE-4354-BEDB4D38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A8A88A-6822-AA06-B45D-CAEE20AF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19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818C5-E0EB-F5E5-8537-7C653205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E47D0F-7AAF-9FC3-B011-4DF1D4447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E93F38-EB5A-20A4-B734-CBB7FEE4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E50DA-2E13-B6E6-5FEE-8D5BA83C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FD6AA2-68C4-3B74-F0C4-223495A1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344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5D5398-F0BD-BCC3-6580-A4CDCB8C7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ED1F2A-3F21-EC6E-12BC-5A4D81F4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70799B-8830-BCAA-A3B5-360F21DF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93C12F-7629-FFD6-F95D-0A524F1D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89A6C6-EB8E-2514-1C8B-747DB282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30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30DF168-C66B-9FB1-A9CC-498E384C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B06941-8529-5985-23CF-C50B01681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9C8851-D810-A845-ABD9-95BB35E34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BA97A-4A5B-4C37-843F-E66BC8E809D8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66CED7-6C21-AE75-D8AE-DDE8D459D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629234-6271-C4DE-F5C4-3EBCB2C9E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E2EB0-4677-4B18-9BC7-469A1168B2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785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50D7923-2A2D-4366-1300-4794198132FA}"/>
              </a:ext>
            </a:extLst>
          </p:cNvPr>
          <p:cNvSpPr/>
          <p:nvPr/>
        </p:nvSpPr>
        <p:spPr>
          <a:xfrm>
            <a:off x="4027952" y="153193"/>
            <a:ext cx="4136096" cy="320036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Docker </a:t>
            </a:r>
            <a:r>
              <a:rPr kumimoji="1" lang="ja-JP" altLang="en-US" sz="1600" dirty="0">
                <a:solidFill>
                  <a:schemeClr val="tx1"/>
                </a:solidFill>
              </a:rPr>
              <a:t>と </a:t>
            </a:r>
            <a:r>
              <a:rPr kumimoji="1" lang="en-US" altLang="ja-JP" sz="1600" dirty="0">
                <a:solidFill>
                  <a:schemeClr val="tx1"/>
                </a:solidFill>
              </a:rPr>
              <a:t>Python</a:t>
            </a:r>
            <a:r>
              <a:rPr kumimoji="1" lang="ja-JP" altLang="en-US" sz="1600" dirty="0">
                <a:solidFill>
                  <a:schemeClr val="tx1"/>
                </a:solidFill>
              </a:rPr>
              <a:t>仮想環境 比較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F81FD3C-3248-AB1F-84D1-B774405B9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892551"/>
              </p:ext>
            </p:extLst>
          </p:nvPr>
        </p:nvGraphicFramePr>
        <p:xfrm>
          <a:off x="469900" y="760306"/>
          <a:ext cx="11049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020">
                  <a:extLst>
                    <a:ext uri="{9D8B030D-6E8A-4147-A177-3AD203B41FA5}">
                      <a16:colId xmlns:a16="http://schemas.microsoft.com/office/drawing/2014/main" val="3332517097"/>
                    </a:ext>
                  </a:extLst>
                </a:gridCol>
                <a:gridCol w="4110990">
                  <a:extLst>
                    <a:ext uri="{9D8B030D-6E8A-4147-A177-3AD203B41FA5}">
                      <a16:colId xmlns:a16="http://schemas.microsoft.com/office/drawing/2014/main" val="2296817350"/>
                    </a:ext>
                  </a:extLst>
                </a:gridCol>
                <a:gridCol w="4110990">
                  <a:extLst>
                    <a:ext uri="{9D8B030D-6E8A-4147-A177-3AD203B41FA5}">
                      <a16:colId xmlns:a16="http://schemas.microsoft.com/office/drawing/2014/main" val="1777733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項目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Python 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仮想環境 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venv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コンテナ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5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開発の手軽さ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中～低 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(Docker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の知識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簡単な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Linux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知識必要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8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環境再現の容易さ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低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(Python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パッケージは再現可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/OS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依存部に弱い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(OS, Python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ライブライ 及び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パス情報をそのまま再現可能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本番運用環境との差異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大きい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小さい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（きちんと設定することで基本的には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そのまま本番運用可能）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9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パフォーマンスオーバーヘッド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非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Linux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ホストで若干有り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99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CI/CD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との親和性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（イメージビルド→デプロイで自動化）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933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隔離性（セキュリティ）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低 ～ 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中 ～ 高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（コンテナ隔離 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権限制御が容易）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92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学習コスト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中 ～ 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523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費用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無料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個人利用：無料</a:t>
                      </a:r>
                      <a:endParaRPr kumimoji="1" lang="en-US" altLang="ja-JP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商用開発：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$10/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月～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658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93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45714EA-B96B-18B2-71EB-41AAB8D1DBEA}"/>
              </a:ext>
            </a:extLst>
          </p:cNvPr>
          <p:cNvSpPr/>
          <p:nvPr/>
        </p:nvSpPr>
        <p:spPr>
          <a:xfrm>
            <a:off x="4027952" y="153193"/>
            <a:ext cx="4136096" cy="320036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Docker</a:t>
            </a:r>
            <a:r>
              <a:rPr lang="ja-JP" altLang="en-US" sz="1600" dirty="0">
                <a:solidFill>
                  <a:schemeClr val="tx1"/>
                </a:solidFill>
              </a:rPr>
              <a:t> 主要コマンド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D77C68-0319-7E60-78F2-C90C54A60EAD}"/>
              </a:ext>
            </a:extLst>
          </p:cNvPr>
          <p:cNvSpPr txBox="1"/>
          <p:nvPr/>
        </p:nvSpPr>
        <p:spPr>
          <a:xfrm>
            <a:off x="269240" y="71957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・イメージのダウンロード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4576EA1-F4B7-5436-EA0A-D3DCB0C70382}"/>
              </a:ext>
            </a:extLst>
          </p:cNvPr>
          <p:cNvSpPr/>
          <p:nvPr/>
        </p:nvSpPr>
        <p:spPr>
          <a:xfrm>
            <a:off x="736112" y="1433353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pull &lt;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イメージ名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&gt;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D7C295-9769-F3CA-D083-CC9779878A0C}"/>
              </a:ext>
            </a:extLst>
          </p:cNvPr>
          <p:cNvSpPr txBox="1"/>
          <p:nvPr/>
        </p:nvSpPr>
        <p:spPr>
          <a:xfrm>
            <a:off x="558800" y="1055647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書式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82F735A-1CF2-44CE-E2B4-8C2A0897BF6F}"/>
              </a:ext>
            </a:extLst>
          </p:cNvPr>
          <p:cNvSpPr/>
          <p:nvPr/>
        </p:nvSpPr>
        <p:spPr>
          <a:xfrm>
            <a:off x="736112" y="2317273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pull hello-world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B3E164D-6AC3-DF90-34AC-15FFE10A6606}"/>
              </a:ext>
            </a:extLst>
          </p:cNvPr>
          <p:cNvSpPr txBox="1"/>
          <p:nvPr/>
        </p:nvSpPr>
        <p:spPr>
          <a:xfrm>
            <a:off x="558800" y="1939567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lang="ja-JP" altLang="en-US" dirty="0"/>
              <a:t>例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16FB15A-7737-185B-B523-E64BE39552C9}"/>
              </a:ext>
            </a:extLst>
          </p:cNvPr>
          <p:cNvSpPr txBox="1"/>
          <p:nvPr/>
        </p:nvSpPr>
        <p:spPr>
          <a:xfrm>
            <a:off x="661524" y="3231966"/>
            <a:ext cx="338328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/>
              <a:t>・イメージの大きさ比較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・</a:t>
            </a:r>
            <a:r>
              <a:rPr lang="en-US" altLang="ja-JP" dirty="0"/>
              <a:t>alpine</a:t>
            </a:r>
          </a:p>
          <a:p>
            <a:r>
              <a:rPr kumimoji="1" lang="ja-JP" altLang="en-US" sz="1800" b="0" dirty="0">
                <a:solidFill>
                  <a:schemeClr val="tx1"/>
                </a:solidFill>
              </a:rPr>
              <a:t>　・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python:3.14</a:t>
            </a:r>
          </a:p>
          <a:p>
            <a:r>
              <a:rPr lang="ja-JP" altLang="en-US" dirty="0"/>
              <a:t>　・</a:t>
            </a:r>
            <a:r>
              <a:rPr lang="en-US" altLang="ja-JP" dirty="0"/>
              <a:t>python:3.14-slim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33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45714EA-B96B-18B2-71EB-41AAB8D1DBEA}"/>
              </a:ext>
            </a:extLst>
          </p:cNvPr>
          <p:cNvSpPr/>
          <p:nvPr/>
        </p:nvSpPr>
        <p:spPr>
          <a:xfrm>
            <a:off x="4027952" y="153193"/>
            <a:ext cx="4136096" cy="320036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Docker</a:t>
            </a:r>
            <a:r>
              <a:rPr lang="ja-JP" altLang="en-US" sz="1600" dirty="0">
                <a:solidFill>
                  <a:schemeClr val="tx1"/>
                </a:solidFill>
              </a:rPr>
              <a:t> 主要コマンド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5A5CC6-FFE9-FBFF-B4BF-A744AC0B8BB9}"/>
              </a:ext>
            </a:extLst>
          </p:cNvPr>
          <p:cNvSpPr txBox="1"/>
          <p:nvPr/>
        </p:nvSpPr>
        <p:spPr>
          <a:xfrm>
            <a:off x="147320" y="687308"/>
            <a:ext cx="534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・イメージからコンテナを作成、実行、終了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81325DB-C4CB-C7BF-EFEE-940CFC688722}"/>
              </a:ext>
            </a:extLst>
          </p:cNvPr>
          <p:cNvSpPr/>
          <p:nvPr/>
        </p:nvSpPr>
        <p:spPr>
          <a:xfrm>
            <a:off x="614192" y="1401087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&lt;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イメージ名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&gt;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602AD4C-2121-7A10-AD00-519B02BC7290}"/>
              </a:ext>
            </a:extLst>
          </p:cNvPr>
          <p:cNvSpPr txBox="1"/>
          <p:nvPr/>
        </p:nvSpPr>
        <p:spPr>
          <a:xfrm>
            <a:off x="436880" y="1023381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書式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C51DAFB-F538-6BE6-638C-78A6E1550686}"/>
              </a:ext>
            </a:extLst>
          </p:cNvPr>
          <p:cNvSpPr/>
          <p:nvPr/>
        </p:nvSpPr>
        <p:spPr>
          <a:xfrm>
            <a:off x="614192" y="2285007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hello-world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376CBB3-F730-C123-B9EB-CC3973717C56}"/>
              </a:ext>
            </a:extLst>
          </p:cNvPr>
          <p:cNvSpPr txBox="1"/>
          <p:nvPr/>
        </p:nvSpPr>
        <p:spPr>
          <a:xfrm>
            <a:off x="436880" y="1907301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lang="ja-JP" altLang="en-US" dirty="0"/>
              <a:t>例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412445F-45EE-4480-8A15-678681875092}"/>
              </a:ext>
            </a:extLst>
          </p:cNvPr>
          <p:cNvSpPr/>
          <p:nvPr/>
        </p:nvSpPr>
        <p:spPr>
          <a:xfrm>
            <a:off x="614192" y="3386579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</a:t>
            </a:r>
            <a:r>
              <a:rPr lang="ja-JP" altLang="en-U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ja-JP" sz="1600" b="1" dirty="0">
                <a:solidFill>
                  <a:srgbClr val="FF0000"/>
                </a:solidFill>
              </a:rPr>
              <a:t>--name</a:t>
            </a:r>
            <a:r>
              <a:rPr lang="ja-JP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ja-JP" sz="1600" b="1" dirty="0">
                <a:solidFill>
                  <a:srgbClr val="FF0000"/>
                </a:solidFill>
              </a:rPr>
              <a:t>&lt;</a:t>
            </a:r>
            <a:r>
              <a:rPr lang="ja-JP" altLang="en-US" sz="1600" b="1" dirty="0">
                <a:solidFill>
                  <a:srgbClr val="FF0000"/>
                </a:solidFill>
              </a:rPr>
              <a:t>コンテナ名</a:t>
            </a:r>
            <a:r>
              <a:rPr lang="en-US" altLang="ja-JP" sz="1600" b="1" dirty="0">
                <a:solidFill>
                  <a:srgbClr val="FF0000"/>
                </a:solidFill>
              </a:rPr>
              <a:t>&gt;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 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&lt;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イメージ名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&gt;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DAC436-5C15-0D74-B5E8-06240A06B754}"/>
              </a:ext>
            </a:extLst>
          </p:cNvPr>
          <p:cNvSpPr txBox="1"/>
          <p:nvPr/>
        </p:nvSpPr>
        <p:spPr>
          <a:xfrm>
            <a:off x="436880" y="3008873"/>
            <a:ext cx="386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書式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（コンテナ名を指定）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1E635B5-012D-591C-5155-3A02496584A2}"/>
              </a:ext>
            </a:extLst>
          </p:cNvPr>
          <p:cNvSpPr/>
          <p:nvPr/>
        </p:nvSpPr>
        <p:spPr>
          <a:xfrm>
            <a:off x="614192" y="4270499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--name my-hello  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hello-world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A887B7F-9898-64AC-DCC5-82464387895B}"/>
              </a:ext>
            </a:extLst>
          </p:cNvPr>
          <p:cNvSpPr txBox="1"/>
          <p:nvPr/>
        </p:nvSpPr>
        <p:spPr>
          <a:xfrm>
            <a:off x="436880" y="3892793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lang="ja-JP" altLang="en-US" dirty="0"/>
              <a:t>例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8A1D43F-5537-7500-AC88-D8E77BCE25E3}"/>
              </a:ext>
            </a:extLst>
          </p:cNvPr>
          <p:cNvSpPr/>
          <p:nvPr/>
        </p:nvSpPr>
        <p:spPr>
          <a:xfrm>
            <a:off x="614192" y="5408419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--rm</a:t>
            </a:r>
            <a:r>
              <a:rPr lang="ja-JP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--name</a:t>
            </a:r>
            <a:r>
              <a:rPr lang="ja-JP" altLang="en-U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&lt;</a:t>
            </a:r>
            <a:r>
              <a:rPr lang="ja-JP" altLang="en-US" sz="1600" dirty="0">
                <a:solidFill>
                  <a:schemeClr val="bg1">
                    <a:lumMod val="95000"/>
                  </a:schemeClr>
                </a:solidFill>
              </a:rPr>
              <a:t>コンテナ名</a:t>
            </a:r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&gt;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 &lt;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イメージ名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&gt;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E1394A-0319-6B61-D77A-C4E9A8F3FBC1}"/>
              </a:ext>
            </a:extLst>
          </p:cNvPr>
          <p:cNvSpPr txBox="1"/>
          <p:nvPr/>
        </p:nvSpPr>
        <p:spPr>
          <a:xfrm>
            <a:off x="436880" y="5030713"/>
            <a:ext cx="639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書式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（コンテナ名を指定・実行後コンテナ自動削除）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8BC8832-E456-7325-561D-C2784FDF2D9E}"/>
              </a:ext>
            </a:extLst>
          </p:cNvPr>
          <p:cNvSpPr/>
          <p:nvPr/>
        </p:nvSpPr>
        <p:spPr>
          <a:xfrm>
            <a:off x="614192" y="6292339"/>
            <a:ext cx="7168368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--rm 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--name my-hello  hello-world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BB5C451-61AE-A016-2111-CB7828D19919}"/>
              </a:ext>
            </a:extLst>
          </p:cNvPr>
          <p:cNvSpPr txBox="1"/>
          <p:nvPr/>
        </p:nvSpPr>
        <p:spPr>
          <a:xfrm>
            <a:off x="436880" y="5914633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lang="ja-JP" altLang="en-US" dirty="0"/>
              <a:t>例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39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45714EA-B96B-18B2-71EB-41AAB8D1DBEA}"/>
              </a:ext>
            </a:extLst>
          </p:cNvPr>
          <p:cNvSpPr/>
          <p:nvPr/>
        </p:nvSpPr>
        <p:spPr>
          <a:xfrm>
            <a:off x="4027952" y="153193"/>
            <a:ext cx="4136096" cy="320036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Docker</a:t>
            </a:r>
            <a:r>
              <a:rPr lang="ja-JP" altLang="en-US" sz="1600" dirty="0">
                <a:solidFill>
                  <a:schemeClr val="tx1"/>
                </a:solidFill>
              </a:rPr>
              <a:t> 主要コマンド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5A5CC6-FFE9-FBFF-B4BF-A744AC0B8BB9}"/>
              </a:ext>
            </a:extLst>
          </p:cNvPr>
          <p:cNvSpPr txBox="1"/>
          <p:nvPr/>
        </p:nvSpPr>
        <p:spPr>
          <a:xfrm>
            <a:off x="147320" y="687308"/>
            <a:ext cx="534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・イメージからコンテナを作成、実行、終了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8A1D43F-5537-7500-AC88-D8E77BCE25E3}"/>
              </a:ext>
            </a:extLst>
          </p:cNvPr>
          <p:cNvSpPr/>
          <p:nvPr/>
        </p:nvSpPr>
        <p:spPr>
          <a:xfrm>
            <a:off x="618151" y="1505395"/>
            <a:ext cx="9143366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--rm</a:t>
            </a:r>
            <a:r>
              <a:rPr lang="ja-JP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--name</a:t>
            </a:r>
            <a:r>
              <a:rPr lang="ja-JP" altLang="en-U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&lt;</a:t>
            </a:r>
            <a:r>
              <a:rPr lang="ja-JP" altLang="en-US" sz="1600" dirty="0">
                <a:solidFill>
                  <a:schemeClr val="bg1">
                    <a:lumMod val="95000"/>
                  </a:schemeClr>
                </a:solidFill>
              </a:rPr>
              <a:t>コンテナ名</a:t>
            </a:r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&gt;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 &lt;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イメージ名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&gt; &lt;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プログラム名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&gt; [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引数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]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E1394A-0319-6B61-D77A-C4E9A8F3FBC1}"/>
              </a:ext>
            </a:extLst>
          </p:cNvPr>
          <p:cNvSpPr txBox="1"/>
          <p:nvPr/>
        </p:nvSpPr>
        <p:spPr>
          <a:xfrm>
            <a:off x="440838" y="1127689"/>
            <a:ext cx="828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書式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r>
              <a:rPr kumimoji="1" lang="ja-JP" altLang="en-US" sz="1800" b="0" dirty="0">
                <a:solidFill>
                  <a:schemeClr val="tx1"/>
                </a:solidFill>
              </a:rPr>
              <a:t>（コンテナ名を指定・指定プログラム実行後コンテナ自動削除）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8BC8832-E456-7325-561D-C2784FDF2D9E}"/>
              </a:ext>
            </a:extLst>
          </p:cNvPr>
          <p:cNvSpPr/>
          <p:nvPr/>
        </p:nvSpPr>
        <p:spPr>
          <a:xfrm>
            <a:off x="618151" y="2389315"/>
            <a:ext cx="9143366" cy="320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>
                <a:solidFill>
                  <a:schemeClr val="bg1">
                    <a:lumMod val="95000"/>
                  </a:schemeClr>
                </a:solidFill>
              </a:rPr>
              <a:t>d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ocker run 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--rm 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--name my-python  python:3.13-slim python -c “print(‘</a:t>
            </a:r>
            <a:r>
              <a:rPr kumimoji="1" lang="ja-JP" altLang="en-US" sz="1600" dirty="0">
                <a:solidFill>
                  <a:schemeClr val="bg1">
                    <a:lumMod val="95000"/>
                  </a:schemeClr>
                </a:solidFill>
              </a:rPr>
              <a:t>こんにちは</a:t>
            </a:r>
            <a:r>
              <a:rPr kumimoji="1" lang="en-US" altLang="ja-JP" sz="1600" dirty="0">
                <a:solidFill>
                  <a:schemeClr val="bg1">
                    <a:lumMod val="95000"/>
                  </a:schemeClr>
                </a:solidFill>
              </a:rPr>
              <a:t>’)”</a:t>
            </a:r>
            <a:endParaRPr kumimoji="1" lang="ja-JP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BB5C451-61AE-A016-2111-CB7828D19919}"/>
              </a:ext>
            </a:extLst>
          </p:cNvPr>
          <p:cNvSpPr txBox="1"/>
          <p:nvPr/>
        </p:nvSpPr>
        <p:spPr>
          <a:xfrm>
            <a:off x="440839" y="2011609"/>
            <a:ext cx="122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b="0" dirty="0">
                <a:solidFill>
                  <a:schemeClr val="tx1"/>
                </a:solidFill>
              </a:rPr>
              <a:t>【</a:t>
            </a:r>
            <a:r>
              <a:rPr lang="ja-JP" altLang="en-US" dirty="0"/>
              <a:t>例</a:t>
            </a:r>
            <a:r>
              <a:rPr kumimoji="1" lang="en-US" altLang="ja-JP" sz="1800" b="0" dirty="0">
                <a:solidFill>
                  <a:schemeClr val="tx1"/>
                </a:solidFill>
              </a:rPr>
              <a:t>】</a:t>
            </a:r>
            <a:endParaRPr kumimoji="1" lang="ja-JP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2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60D02FF-9046-285D-7616-7150F72F9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53723"/>
              </p:ext>
            </p:extLst>
          </p:nvPr>
        </p:nvGraphicFramePr>
        <p:xfrm>
          <a:off x="469900" y="760306"/>
          <a:ext cx="11049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7940">
                  <a:extLst>
                    <a:ext uri="{9D8B030D-6E8A-4147-A177-3AD203B41FA5}">
                      <a16:colId xmlns:a16="http://schemas.microsoft.com/office/drawing/2014/main" val="3332517097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296817350"/>
                    </a:ext>
                  </a:extLst>
                </a:gridCol>
                <a:gridCol w="4447540">
                  <a:extLst>
                    <a:ext uri="{9D8B030D-6E8A-4147-A177-3AD203B41FA5}">
                      <a16:colId xmlns:a16="http://schemas.microsoft.com/office/drawing/2014/main" val="1777733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備考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65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第１章　コンテナの仕組みと利点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0.5W[1]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8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第２章　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を利用できるサーバーを作る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ローカル 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Docker Desktop</a:t>
                      </a:r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を利用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第３章　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分で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Web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サーバーを起動する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0.5W[1]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9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第４章　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Docker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の基本操作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0.5W[2]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99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第５章　コンテナ内のファイルと永続化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0.5W[2]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933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第６章　コンテナのネットワーク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1W[3]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922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第７章　複数コンテナをまとめて起動する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Docker Compose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1W[4]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523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第８章　イメージを自作する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2W[5-6]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0" dirty="0" err="1">
                          <a:solidFill>
                            <a:schemeClr val="tx1"/>
                          </a:solidFill>
                        </a:rPr>
                        <a:t>FastAPI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イメージ自作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65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第９章　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Kubernetes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</a:rPr>
                        <a:t>を用いたコンテナ運用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2W[7-8]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973293"/>
                  </a:ext>
                </a:extLst>
              </a:tr>
            </a:tbl>
          </a:graphicData>
        </a:graphic>
      </p:graphicFrame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8AB3440-9B30-2781-5E9B-CF7226969A7C}"/>
              </a:ext>
            </a:extLst>
          </p:cNvPr>
          <p:cNvSpPr/>
          <p:nvPr/>
        </p:nvSpPr>
        <p:spPr>
          <a:xfrm>
            <a:off x="4027952" y="153193"/>
            <a:ext cx="4136096" cy="320036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Docker </a:t>
            </a:r>
            <a:r>
              <a:rPr kumimoji="1" lang="ja-JP" altLang="en-US" sz="1600" dirty="0">
                <a:solidFill>
                  <a:schemeClr val="tx1"/>
                </a:solidFill>
              </a:rPr>
              <a:t>学習計画</a:t>
            </a:r>
          </a:p>
        </p:txBody>
      </p:sp>
    </p:spTree>
    <p:extLst>
      <p:ext uri="{BB962C8B-B14F-4D97-AF65-F5344CB8AC3E}">
        <p14:creationId xmlns:p14="http://schemas.microsoft.com/office/powerpoint/2010/main" val="324288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450</Words>
  <Application>Microsoft Office PowerPoint</Application>
  <PresentationFormat>ワイド画面</PresentationFormat>
  <Paragraphs>88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SAKAMOTO Takayuki 坂本 隆幸</dc:creator>
  <cp:lastModifiedBy>SAKAMOTO Takayuki 坂本 隆幸</cp:lastModifiedBy>
  <cp:revision>33</cp:revision>
  <dcterms:created xsi:type="dcterms:W3CDTF">2026-02-02T07:12:18Z</dcterms:created>
  <dcterms:modified xsi:type="dcterms:W3CDTF">2026-02-03T10:00:38Z</dcterms:modified>
</cp:coreProperties>
</file>